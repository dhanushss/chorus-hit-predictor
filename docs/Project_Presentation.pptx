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2b898fdc1348e5" /><Relationship Type="http://schemas.openxmlformats.org/officeDocument/2006/relationships/extended-properties" Target="/docProps/app.xml" Id="R7aa6115eef974f86" /><Relationship Type="http://schemas.openxmlformats.org/officeDocument/2006/relationships/officeDocument" Target="/ppt/presentation.xml" Id="R6fb09fb3194b425e" /></Relationships>
</file>

<file path=ppt/presentation.xml><?xml version="1.0" encoding="utf-8"?>
<p:presentation xmlns:p="http://schemas.openxmlformats.org/presentationml/2006/main">
  <p:sldMasterIdLst>
    <p:sldMasterId xmlns:r="http://schemas.openxmlformats.org/officeDocument/2006/relationships" id="2147483648" r:id="Rbae8d0a0216146b7"/>
  </p:sldMasterIdLst>
  <p:notesMasterIdLst>
    <p:notesMasterId xmlns:r="http://schemas.openxmlformats.org/officeDocument/2006/relationships" r:id="R93a1901a4a184882"/>
  </p:notesMasterIdLst>
  <p:sldIdLst>
    <p:sldId xmlns:r="http://schemas.openxmlformats.org/officeDocument/2006/relationships" id="256" r:id="R383157a512634174"/>
    <p:sldId xmlns:r="http://schemas.openxmlformats.org/officeDocument/2006/relationships" id="257" r:id="R612dd4d6d1884316"/>
    <p:sldId xmlns:r="http://schemas.openxmlformats.org/officeDocument/2006/relationships" id="258" r:id="Rf0f7fd4bab2646dd"/>
    <p:sldId xmlns:r="http://schemas.openxmlformats.org/officeDocument/2006/relationships" id="259" r:id="Rd5467ef636c745f8"/>
    <p:sldId xmlns:r="http://schemas.openxmlformats.org/officeDocument/2006/relationships" id="260" r:id="R5b754b7805ef48c1"/>
    <p:sldId xmlns:r="http://schemas.openxmlformats.org/officeDocument/2006/relationships" id="261" r:id="Rc84738630ddf4843"/>
    <p:sldId xmlns:r="http://schemas.openxmlformats.org/officeDocument/2006/relationships" id="262" r:id="Rdbfadb94a644457e"/>
    <p:sldId xmlns:r="http://schemas.openxmlformats.org/officeDocument/2006/relationships" id="263" r:id="R6fc99b6ae4af4101"/>
    <p:sldId xmlns:r="http://schemas.openxmlformats.org/officeDocument/2006/relationships" id="264" r:id="R9bc74a337ac24dd3"/>
    <p:sldId xmlns:r="http://schemas.openxmlformats.org/officeDocument/2006/relationships" id="265" r:id="R004fb18614be48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8a89ca67e84775" /><Relationship Type="http://schemas.openxmlformats.org/officeDocument/2006/relationships/slideMaster" Target="/ppt/slideMasters/slideMaster1.xml" Id="Rbae8d0a0216146b7" /><Relationship Type="http://schemas.openxmlformats.org/officeDocument/2006/relationships/notesMaster" Target="/ppt/notesMasters/notesMaster1.xml" Id="R93a1901a4a184882" /><Relationship Type="http://schemas.openxmlformats.org/officeDocument/2006/relationships/presProps" Target="/ppt/presProps.xml" Id="R6f397dddf37844e8" /><Relationship Type="http://schemas.openxmlformats.org/officeDocument/2006/relationships/tableStyles" Target="/ppt/tableStyles.xml" Id="Rd0df0e30da004950" /><Relationship Type="http://schemas.openxmlformats.org/officeDocument/2006/relationships/slide" Target="/ppt/slides/slide1.xml" Id="R383157a512634174" /><Relationship Type="http://schemas.openxmlformats.org/officeDocument/2006/relationships/slide" Target="/ppt/slides/slide2.xml" Id="R612dd4d6d1884316" /><Relationship Type="http://schemas.openxmlformats.org/officeDocument/2006/relationships/slide" Target="/ppt/slides/slide3.xml" Id="Rf0f7fd4bab2646dd" /><Relationship Type="http://schemas.openxmlformats.org/officeDocument/2006/relationships/slide" Target="/ppt/slides/slide4.xml" Id="Rd5467ef636c745f8" /><Relationship Type="http://schemas.openxmlformats.org/officeDocument/2006/relationships/slide" Target="/ppt/slides/slide5.xml" Id="R5b754b7805ef48c1" /><Relationship Type="http://schemas.openxmlformats.org/officeDocument/2006/relationships/slide" Target="/ppt/slides/slide6.xml" Id="Rc84738630ddf4843" /><Relationship Type="http://schemas.openxmlformats.org/officeDocument/2006/relationships/slide" Target="/ppt/slides/slide7.xml" Id="Rdbfadb94a644457e" /><Relationship Type="http://schemas.openxmlformats.org/officeDocument/2006/relationships/slide" Target="/ppt/slides/slide8.xml" Id="R6fc99b6ae4af4101" /><Relationship Type="http://schemas.openxmlformats.org/officeDocument/2006/relationships/slide" Target="/ppt/slides/slide9.xml" Id="R9bc74a337ac24dd3" /><Relationship Type="http://schemas.openxmlformats.org/officeDocument/2006/relationships/slide" Target="/ppt/slides/slide10.xml" Id="R004fb18614be48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92e627b21e40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eede19c2d24599" /><Relationship Type="http://schemas.openxmlformats.org/officeDocument/2006/relationships/notesMaster" Target="/ppt/notesMasters/notesMaster1.xml" Id="Rd5611b34fc3b4c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a19d218a7b452a" /><Relationship Type="http://schemas.openxmlformats.org/officeDocument/2006/relationships/notesMaster" Target="/ppt/notesMasters/notesMaster1.xml" Id="Ra419816fdf694d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cdc2c6abd24cd1" /><Relationship Type="http://schemas.openxmlformats.org/officeDocument/2006/relationships/notesMaster" Target="/ppt/notesMasters/notesMaster1.xml" Id="R41ea2df06d3c4c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c13527d3db4553" /><Relationship Type="http://schemas.openxmlformats.org/officeDocument/2006/relationships/notesMaster" Target="/ppt/notesMasters/notesMaster1.xml" Id="R489ab0e3c01a4a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7c983a4ae848dd" /><Relationship Type="http://schemas.openxmlformats.org/officeDocument/2006/relationships/notesMaster" Target="/ppt/notesMasters/notesMaster1.xml" Id="R45b28c4f1f694d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56ea3aec314137" /><Relationship Type="http://schemas.openxmlformats.org/officeDocument/2006/relationships/notesMaster" Target="/ppt/notesMasters/notesMaster1.xml" Id="Raf5c2db6c30547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e60f79000c439a" /><Relationship Type="http://schemas.openxmlformats.org/officeDocument/2006/relationships/notesMaster" Target="/ppt/notesMasters/notesMaster1.xml" Id="R10ff7cbf0a4640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19ca637d9046b5" /><Relationship Type="http://schemas.openxmlformats.org/officeDocument/2006/relationships/notesMaster" Target="/ppt/notesMasters/notesMaster1.xml" Id="Rded241830f184b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e031dd50f04c8e" /><Relationship Type="http://schemas.openxmlformats.org/officeDocument/2006/relationships/notesMaster" Target="/ppt/notesMasters/notesMaster1.xml" Id="R95eefc47229843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453140ce71479d" /><Relationship Type="http://schemas.openxmlformats.org/officeDocument/2006/relationships/notesMaster" Target="/ppt/notesMasters/notesMaster1.xml" Id="R6781fb2b6a784c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and both team members. The reference topic is chorus-based song-hit prediction. This implementation uses a public dataset with a year-end-hit proxy and reports an honest negative result. Reference: https://cs229.stanford.edu/proj2021spr/report2/81974051.pdf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whether short chorus features distinguish chart success. Explain the operational difference immediately. The reference paper describes charted versus uncharted songs. The public reproduction's CollectData.ipynb selects label 1 from year-end Hot-100-Songs and label 0 from sampled weekly hot-100 charts, excluding titles already collected. We therefore call label 0 other chart songs. We have not independently verified every label. Sources: https://cs229.stanford.edu/proj2021spr/report2/81974051.pdf; https://github.com/AntoniosMalak/Predicting-Hit-Songs-Using-Repeated-Chorus/blob/main/CollectData.ipynb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has 751 songs, 71 normalized artist names, 366 positive labels and 385 negative labels. No missing values, exact duplicate feature vectors, or constant columns were found by the local audit. Data source: https://github.com/AntoniosMalak/Predicting-Hit-Songs-Using-Repeated-Chorus, commit 838e76f96f7aa755a882b4d2581afe1e0ad3f8a9. Data licensed Apache-2.0. The source describes collection over 2006-2021. The original recordings are not bundled. Counts calculated from data/chorus_features.csv.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feature extraction has 11 families with 74 channels. Seven statistics summarize each channel: skewness, minimum, maximum, standard deviation, mean, median, kurtosis. 74 times 7 equals 518. MFCCs summarize timbre; chroma pitch classes; RMS energy; other features spectral shape. Source: https://github.com/AntoniosMalak/Predicting-Hit-Songs-Using-Repeated-Chorus/blob/main/ExtractAudioFeature.ipynb. Our audio module preserves the source column spelling 'kew' and explicitly documents a legacy zero-crossing frame-length convention. New waveform equivalence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outer split is the first fold of shuffled StratifiedGroupKFold with 5 folds and seed 42. It holds out 154 songs from 19 artists; 597 songs and 52 artists remain. An inner 5-fold StratifiedGroupKFold with seed 43 chooses settings by mean balanced accuracy. Scaling, imputation, and PCA are fit inside each training fold. Metadata and file paths never enter the predictor. Trees retain raw feature axes. The saved model is trained only on the training partition. Evidence: results/split_manifest.csv, results/cross_validation.csv, chorus_hit/train.py.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Numbers are taken directly from results/metrics.json. Balanced accuracy averages recall of both classes. F1 refers to the positive label. Asterisk marks the polynomial SVM, which wins training CV. The test set is not used for model selection. Eight trained models represent six model families, with three SVM kernels, plus a majority baseline. All candidates use the same folds. The test scores are descriptive and must not be used to select a different winner post hoc.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polynomial SVM test balanced accuracy 46.6%, accuracy 46.8%, precision 0.452, recall 0.368, F1 0.406, ROC-AUC 0.456. Confusion matrix order: rows actual 0/1, columns predicted 0/1. The approximate 95% interval is from 2,000 bootstrap resamples of whole test artists; it does not incorporate all sources of bias or model-selection uncertainty. Evidence: results/metrics.json and results/test_predictions.csv.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http://localhost:8501 while the server is running, or launch Run Demo.command. Choose Held-out song and predict an example. Compare with the actual dataset label. Show a wrong prediction as well as a correct one. The input in this mode is the stored feature vector, not playable audio. Then show the results tab. If local audio is available, upload it, select a manual chorus start, listen to the 15-second segment, and explain the exploratory nature of the output. Source: app.py and chorus_hit/audio.py.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precisely: the current experiment does not show a reliable predictive advantage for unfamiliar artists. It does not establish causation or prove that all chorus-based prediction is impossible. Limits: inherited proxy labels, small historical sample, missing source recordings, artist-name grouping that cannot fully resolve collaborations, no temporal holdout, and extraction differences in the upload demo. Improvements should focus on independent label verification and consistently processed licensed audio before further model 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Eric Liu, Predicting Hit Songs Using Repeated Chorus, CS229, 2021: https://cs229.stanford.edu/proj2021spr/report2/81974051.pdf. Dataset and original notebooks: https://github.com/AntoniosMalak/Predicting-Hit-Songs-Using-Repeated-Chorus, Apache-2.0, commit 838e76f96f7aa755a882b4d2581afe1e0ad3f8a9. Method guidance: https://scikit-learn.org/stable/common_pitfalls.html. This project's code and measured outputs: https://github.com/DhanushSS/chorus-hit-predictor (private). Implementation and materials prepared with OpenAI Codex assistance; team members should understand and rehearse the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d2f8a924cd4c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b5c0e07e744dd4" /><Relationship Type="http://schemas.openxmlformats.org/officeDocument/2006/relationships/slideLayout" Target="/ppt/slideLayouts/slideLayout1.xml" Id="R47ad425815cf45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ad425815cf45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286049455447de" /><Relationship Type="http://schemas.openxmlformats.org/officeDocument/2006/relationships/notesSlide" Target="/ppt/notesSlides/notesSlide1.xml" Id="R00b8222fb4cf44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c5ab53c94148e4" /><Relationship Type="http://schemas.openxmlformats.org/officeDocument/2006/relationships/notesSlide" Target="/ppt/notesSlides/notesSlide2.xml" Id="R1fae0d01576a41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5c7278d654440f" /><Relationship Type="http://schemas.openxmlformats.org/officeDocument/2006/relationships/chart" Target="/ppt/slides/charts/chart1.xml" Id="R55816c28d12c46e0" /><Relationship Type="http://schemas.openxmlformats.org/officeDocument/2006/relationships/notesSlide" Target="/ppt/notesSlides/notesSlide3.xml" Id="Rcac8a3022e8242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59a34742fa4b0a" /><Relationship Type="http://schemas.openxmlformats.org/officeDocument/2006/relationships/notesSlide" Target="/ppt/notesSlides/notesSlide4.xml" Id="R74901c8ec49f42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45ba9588af4283" /><Relationship Type="http://schemas.openxmlformats.org/officeDocument/2006/relationships/notesSlide" Target="/ppt/notesSlides/notesSlide5.xml" Id="R7d891635d71040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3edfe735fca4123" /><Relationship Type="http://schemas.openxmlformats.org/officeDocument/2006/relationships/notesSlide" Target="/ppt/notesSlides/notesSlide6.xml" Id="R3ecedb44d9b548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d0889d7ec549e6" /><Relationship Type="http://schemas.openxmlformats.org/officeDocument/2006/relationships/notesSlide" Target="/ppt/notesSlides/notesSlide7.xml" Id="Rbc24785c5d9e41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ebb9f9e83e4910" /><Relationship Type="http://schemas.openxmlformats.org/officeDocument/2006/relationships/notesSlide" Target="/ppt/notesSlides/notesSlide8.xml" Id="Rc2df33b227a34c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81a84dd29844b2" /><Relationship Type="http://schemas.openxmlformats.org/officeDocument/2006/relationships/notesSlide" Target="/ppt/notesSlides/notesSlide9.xml" Id="R6d12627cad9346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2d7e59b5684f44" /><Relationship Type="http://schemas.openxmlformats.org/officeDocument/2006/relationships/notesSlide" Target="/ppt/notesSlides/notesSlide10.xml" Id="Rf371068a4ece41e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Songs</c:v>
          </c:tx>
          <c:spPr>
            <a:solidFill xmlns:a="http://schemas.openxmlformats.org/drawingml/2006/main">
              <a:srgbClr val="127C80"/>
            </a:solidFill>
          </c:spPr>
          <c:cat>
            <c:strRef>
              <c:f>'Chart Data'!$A$2:$A$3</c:f>
              <c:strCache>
                <c:ptCount val="2"/>
                <c:pt idx="0">
                  <c:v>Other chart song</c:v>
                </c:pt>
                <c:pt idx="1">
                  <c:v>Year-end hit</c:v>
                </c:pt>
              </c:strCache>
            </c:strRef>
          </c:cat>
          <c:val>
            <c:numRef>
              <c:f>'Chart Data'!$B$2:$B$3</c:f>
              <c:numCache>
                <c:formatCode>General</c:formatCode>
                <c:ptCount val="2"/>
                <c:pt idx="0">
                  <c:v>385</c:v>
                </c:pt>
                <c:pt idx="1">
                  <c:v>366</c:v>
                </c:pt>
              </c:numCache>
            </c:numRef>
          </c:val>
        </c:ser>
        <c:dLbls>
          <c:txPr>
            <a:bodyPr xmlns:a="http://schemas.openxmlformats.org/drawingml/2006/main" anchorCtr="1"/>
            <a:lstStyle xmlns:a="http://schemas.openxmlformats.org/drawingml/2006/main"/>
            <a:p xmlns:a="http://schemas.openxmlformats.org/drawingml/2006/main">
              <a:pPr>
                <a:defRPr sz="2175" b="1">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72768"/>
      </c:catAx>
      <c:valAx>
        <c:axId val="48672768"/>
        <c:scaling>
          <c:orientation val="minMax"/>
          <c:max val="450"/>
          <c:min val="0"/>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Songs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crossBetween val="between"/>
        <c:majorUnit val="10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BDD0DEE-C8E7-48C0-9446-AAF774A3897E}"/>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1</a:t>
            </a:r>
          </a:p>
        </p:txBody>
      </p:sp>
      <p:sp>
        <p:nvSpPr>
          <p:cNvPr id="2" name="">
            <a:extLst xmlns:a="http://schemas.openxmlformats.org/drawingml/2006/main">
              <a:ext uri="{FF2B5EF4-FFF2-40B4-BE49-F238E27FC236}">
                <a16:creationId xmlns:a16="http://schemas.microsoft.com/office/drawing/2014/main" id="{60DD4E29-1D2E-40CE-9F5A-365D5A9064B4}"/>
              </a:ext>
            </a:extLst>
          </p:cNvPr>
          <p:cNvSpPr>
            <a:spLocks xmlns:a="http://schemas.openxmlformats.org/drawingml/2006/main" noGrp="1"/>
          </p:cNvSpPr>
          <p:nvPr/>
        </p:nvSpPr>
        <p:spPr>
          <a:xfrm xmlns:a="http://schemas.openxmlformats.org/drawingml/2006/main">
            <a:off x="609600" y="1238250"/>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172D37"/>
                </a:solidFill>
                <a:latin typeface="Helvetica Neue"/>
                <a:ea typeface="Helvetica Neue"/>
                <a:cs typeface="Helvetica Neue"/>
              </a:defRPr>
            </a:pPr>
            <a:r>
              <a:rPr sz="4425" b="1">
                <a:solidFill>
                  <a:srgbClr val="172D37"/>
                </a:solidFill>
                <a:latin typeface="Helvetica Neue"/>
                <a:ea typeface="Helvetica Neue"/>
                <a:cs typeface="Helvetica Neue"/>
              </a:rPr>
              <a:t>Predicting Hit Songs</a:t>
            </a:r>
          </a:p>
          <a:p xmlns:a="http://schemas.openxmlformats.org/drawingml/2006/main">
            <a:pPr>
              <a:defRPr sz="4425" b="1">
                <a:solidFill>
                  <a:srgbClr val="172D37"/>
                </a:solidFill>
                <a:latin typeface="Helvetica Neue"/>
                <a:ea typeface="Helvetica Neue"/>
                <a:cs typeface="Helvetica Neue"/>
              </a:defRPr>
            </a:pPr>
            <a:r>
              <a:rPr sz="4425" b="1">
                <a:solidFill>
                  <a:srgbClr val="172D37"/>
                </a:solidFill>
                <a:latin typeface="Helvetica Neue"/>
                <a:ea typeface="Helvetica Neue"/>
                <a:cs typeface="Helvetica Neue"/>
              </a:rPr>
              <a:t>Using Repeated Chorus</a:t>
            </a:r>
          </a:p>
        </p:txBody>
      </p:sp>
      <p:sp>
        <p:nvSpPr>
          <p:cNvPr id="3" name="">
            <a:extLst xmlns:a="http://schemas.openxmlformats.org/drawingml/2006/main">
              <a:ext uri="{FF2B5EF4-FFF2-40B4-BE49-F238E27FC236}">
                <a16:creationId xmlns:a16="http://schemas.microsoft.com/office/drawing/2014/main" id="{2F2C5599-E683-4105-940E-9683095D9FD5}"/>
              </a:ext>
            </a:extLst>
          </p:cNvPr>
          <p:cNvSpPr>
            <a:spLocks xmlns:a="http://schemas.openxmlformats.org/drawingml/2006/main" noGrp="1"/>
          </p:cNvSpPr>
          <p:nvPr/>
        </p:nvSpPr>
        <p:spPr>
          <a:xfrm xmlns:a="http://schemas.openxmlformats.org/drawingml/2006/main">
            <a:off x="647700" y="31718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27C80"/>
                </a:solidFill>
                <a:latin typeface="Helvetica Neue"/>
                <a:ea typeface="Helvetica Neue"/>
                <a:cs typeface="Helvetica Neue"/>
              </a:defRPr>
            </a:pPr>
            <a:r>
              <a:rPr sz="2325" b="0">
                <a:solidFill>
                  <a:srgbClr val="127C80"/>
                </a:solidFill>
                <a:latin typeface="Helvetica Neue"/>
                <a:ea typeface="Helvetica Neue"/>
                <a:cs typeface="Helvetica Neue"/>
              </a:rPr>
              <a:t>A study of 15-second audio features</a:t>
            </a:r>
          </a:p>
        </p:txBody>
      </p:sp>
      <p:sp>
        <p:nvSpPr>
          <p:cNvPr id="4" name="">
            <a:extLst xmlns:a="http://schemas.openxmlformats.org/drawingml/2006/main">
              <a:ext uri="{FF2B5EF4-FFF2-40B4-BE49-F238E27FC236}">
                <a16:creationId xmlns:a16="http://schemas.microsoft.com/office/drawing/2014/main" id="{B627654F-CB5A-4BD8-BA1C-33515324AF09}"/>
              </a:ext>
            </a:extLst>
          </p:cNvPr>
          <p:cNvSpPr>
            <a:spLocks xmlns:a="http://schemas.openxmlformats.org/drawingml/2006/main" noGrp="1"/>
          </p:cNvSpPr>
          <p:nvPr/>
        </p:nvSpPr>
        <p:spPr>
          <a:xfrm xmlns:a="http://schemas.openxmlformats.org/drawingml/2006/main">
            <a:off x="647700" y="42862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7"/>
                </a:solidFill>
                <a:latin typeface="Helvetica Neue"/>
                <a:ea typeface="Helvetica Neue"/>
                <a:cs typeface="Helvetica Neue"/>
              </a:defRPr>
            </a:pPr>
            <a:r>
              <a:rPr sz="2025" b="0">
                <a:solidFill>
                  <a:srgbClr val="172D37"/>
                </a:solidFill>
                <a:latin typeface="Helvetica Neue"/>
                <a:ea typeface="Helvetica Neue"/>
                <a:cs typeface="Helvetica Neue"/>
              </a:rPr>
              <a:t>Dhanush Sai Suprapadha  ·  PES2UG24CS154</a:t>
            </a:r>
          </a:p>
          <a:p xmlns:a="http://schemas.openxmlformats.org/drawingml/2006/main">
            <a:pPr>
              <a:defRPr sz="2025" b="0">
                <a:solidFill>
                  <a:srgbClr val="172D37"/>
                </a:solidFill>
                <a:latin typeface="Helvetica Neue"/>
                <a:ea typeface="Helvetica Neue"/>
                <a:cs typeface="Helvetica Neue"/>
              </a:defRPr>
            </a:pPr>
            <a:r>
              <a:rPr sz="2025" b="0">
                <a:solidFill>
                  <a:srgbClr val="172D37"/>
                </a:solidFill>
                <a:latin typeface="Helvetica Neue"/>
                <a:ea typeface="Helvetica Neue"/>
                <a:cs typeface="Helvetica Neue"/>
              </a:rPr>
              <a:t>Deepthi V  ·  PES2UG24CS150</a:t>
            </a:r>
          </a:p>
        </p:txBody>
      </p:sp>
      <p:sp>
        <p:nvSpPr>
          <p:cNvPr id="5" name="">
            <a:extLst xmlns:a="http://schemas.openxmlformats.org/drawingml/2006/main">
              <a:ext uri="{FF2B5EF4-FFF2-40B4-BE49-F238E27FC236}">
                <a16:creationId xmlns:a16="http://schemas.microsoft.com/office/drawing/2014/main" id="{2C491B1D-304B-4F0E-8128-4E039853D656}"/>
              </a:ext>
            </a:extLst>
          </p:cNvPr>
          <p:cNvSpPr>
            <a:spLocks xmlns:a="http://schemas.openxmlformats.org/drawingml/2006/main" noGrp="1"/>
          </p:cNvSpPr>
          <p:nvPr/>
        </p:nvSpPr>
        <p:spPr>
          <a:xfrm xmlns:a="http://schemas.openxmlformats.org/drawingml/2006/main">
            <a:off x="647700" y="55245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66E"/>
                </a:solidFill>
                <a:latin typeface="Helvetica Neue"/>
                <a:ea typeface="Helvetica Neue"/>
                <a:cs typeface="Helvetica Neue"/>
              </a:defRPr>
            </a:pPr>
            <a:r>
              <a:rPr sz="1725" b="0">
                <a:solidFill>
                  <a:srgbClr val="52666E"/>
                </a:solidFill>
                <a:latin typeface="Helvetica Neue"/>
                <a:ea typeface="Helvetica Neue"/>
                <a:cs typeface="Helvetica Neue"/>
              </a:rPr>
              <a:t>UE24CS352A · Machine Learning · September 2026</a:t>
            </a:r>
          </a:p>
        </p:txBody>
      </p:sp>
    </p:spTree>
    <p:extLst>
      <p:ext uri="{BB962C8B-B14F-4D97-AF65-F5344CB8AC3E}">
        <p14:creationId xmlns:p14="http://schemas.microsoft.com/office/powerpoint/2010/main" val="8731514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4F5D65-221C-49EF-B29D-B90B64DCC0E2}"/>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Research question and label definition</a:t>
            </a:r>
          </a:p>
        </p:txBody>
      </p:sp>
      <p:sp>
        <p:nvSpPr>
          <p:cNvPr id="2" name="">
            <a:extLst xmlns:a="http://schemas.openxmlformats.org/drawingml/2006/main">
              <a:ext uri="{FF2B5EF4-FFF2-40B4-BE49-F238E27FC236}">
                <a16:creationId xmlns:a16="http://schemas.microsoft.com/office/drawing/2014/main" id="{AB074486-AA88-498E-A284-8617D7A0B446}"/>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8BED541D-8998-4D1F-833E-6CAED10CF6C4}"/>
              </a:ext>
            </a:extLst>
          </p:cNvPr>
          <p:cNvSpPr>
            <a:spLocks xmlns:a="http://schemas.openxmlformats.org/drawingml/2006/main" noGrp="1"/>
          </p:cNvSpPr>
          <p:nvPr/>
        </p:nvSpPr>
        <p:spPr>
          <a:xfrm xmlns:a="http://schemas.openxmlformats.org/drawingml/2006/main">
            <a:off x="609600" y="14763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27C80"/>
                </a:solidFill>
                <a:latin typeface="Helvetica Neue"/>
                <a:ea typeface="Helvetica Neue"/>
                <a:cs typeface="Helvetica Neue"/>
              </a:defRPr>
            </a:pPr>
            <a:r>
              <a:rPr sz="2775" b="1">
                <a:solidFill>
                  <a:srgbClr val="127C80"/>
                </a:solidFill>
                <a:latin typeface="Helvetica Neue"/>
                <a:ea typeface="Helvetica Neue"/>
                <a:cs typeface="Helvetica Neue"/>
              </a:rPr>
              <a:t>Can chorus audio distinguish year-end hits</a:t>
            </a:r>
          </a:p>
          <a:p xmlns:a="http://schemas.openxmlformats.org/drawingml/2006/main">
            <a:pPr>
              <a:defRPr sz="2775" b="1">
                <a:solidFill>
                  <a:srgbClr val="127C80"/>
                </a:solidFill>
                <a:latin typeface="Helvetica Neue"/>
                <a:ea typeface="Helvetica Neue"/>
                <a:cs typeface="Helvetica Neue"/>
              </a:defRPr>
            </a:pPr>
            <a:r>
              <a:rPr sz="2775" b="1">
                <a:solidFill>
                  <a:srgbClr val="127C80"/>
                </a:solidFill>
                <a:latin typeface="Helvetica Neue"/>
                <a:ea typeface="Helvetica Neue"/>
                <a:cs typeface="Helvetica Neue"/>
              </a:rPr>
              <a:t>from other charting songs?</a:t>
            </a:r>
          </a:p>
        </p:txBody>
      </p:sp>
      <p:sp>
        <p:nvSpPr>
          <p:cNvPr id="4" name="">
            <a:extLst xmlns:a="http://schemas.openxmlformats.org/drawingml/2006/main">
              <a:ext uri="{FF2B5EF4-FFF2-40B4-BE49-F238E27FC236}">
                <a16:creationId xmlns:a16="http://schemas.microsoft.com/office/drawing/2014/main" id="{EC83E803-967E-4223-8A26-8D0F271BCEF2}"/>
              </a:ext>
            </a:extLst>
          </p:cNvPr>
          <p:cNvSpPr>
            <a:spLocks xmlns:a="http://schemas.openxmlformats.org/drawingml/2006/main" noGrp="1"/>
          </p:cNvSpPr>
          <p:nvPr/>
        </p:nvSpPr>
        <p:spPr>
          <a:xfrm xmlns:a="http://schemas.openxmlformats.org/drawingml/2006/main">
            <a:off x="609600" y="290512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7"/>
                </a:solidFill>
                <a:latin typeface="Helvetica Neue"/>
                <a:ea typeface="Helvetica Neue"/>
                <a:cs typeface="Helvetica Neue"/>
              </a:defRPr>
            </a:pPr>
            <a:r>
              <a:rPr sz="2400" b="1">
                <a:solidFill>
                  <a:srgbClr val="172D37"/>
                </a:solidFill>
                <a:latin typeface="Helvetica Neue"/>
                <a:ea typeface="Helvetica Neue"/>
                <a:cs typeface="Helvetica Neue"/>
              </a:rPr>
              <a:t>1  Year-end hit</a:t>
            </a:r>
          </a:p>
        </p:txBody>
      </p:sp>
      <p:sp>
        <p:nvSpPr>
          <p:cNvPr id="5" name="">
            <a:extLst xmlns:a="http://schemas.openxmlformats.org/drawingml/2006/main">
              <a:ext uri="{FF2B5EF4-FFF2-40B4-BE49-F238E27FC236}">
                <a16:creationId xmlns:a16="http://schemas.microsoft.com/office/drawing/2014/main" id="{1FA15AA2-B2BE-43F5-8389-6CCB1C04B8A4}"/>
              </a:ext>
            </a:extLst>
          </p:cNvPr>
          <p:cNvSpPr>
            <a:spLocks xmlns:a="http://schemas.openxmlformats.org/drawingml/2006/main" noGrp="1"/>
          </p:cNvSpPr>
          <p:nvPr/>
        </p:nvSpPr>
        <p:spPr>
          <a:xfrm xmlns:a="http://schemas.openxmlformats.org/drawingml/2006/main">
            <a:off x="609600" y="35718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Songs in the source’s year-end</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Billboard Hot 100 collection</a:t>
            </a:r>
          </a:p>
        </p:txBody>
      </p:sp>
      <p:sp>
        <p:nvSpPr>
          <p:cNvPr id="6" name="">
            <a:extLst xmlns:a="http://schemas.openxmlformats.org/drawingml/2006/main">
              <a:ext uri="{FF2B5EF4-FFF2-40B4-BE49-F238E27FC236}">
                <a16:creationId xmlns:a16="http://schemas.microsoft.com/office/drawing/2014/main" id="{215BA33C-16C4-45A1-A312-8D017A593590}"/>
              </a:ext>
            </a:extLst>
          </p:cNvPr>
          <p:cNvSpPr>
            <a:spLocks xmlns:a="http://schemas.openxmlformats.org/drawingml/2006/main" noGrp="1"/>
          </p:cNvSpPr>
          <p:nvPr/>
        </p:nvSpPr>
        <p:spPr>
          <a:xfrm xmlns:a="http://schemas.openxmlformats.org/drawingml/2006/main">
            <a:off x="6400800" y="2905125"/>
            <a:ext cx="5143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2D37"/>
                </a:solidFill>
                <a:latin typeface="Helvetica Neue"/>
                <a:ea typeface="Helvetica Neue"/>
                <a:cs typeface="Helvetica Neue"/>
              </a:defRPr>
            </a:pPr>
            <a:r>
              <a:rPr sz="2400" b="1">
                <a:solidFill>
                  <a:srgbClr val="172D37"/>
                </a:solidFill>
                <a:latin typeface="Helvetica Neue"/>
                <a:ea typeface="Helvetica Neue"/>
                <a:cs typeface="Helvetica Neue"/>
              </a:rPr>
              <a:t>0  Other chart song</a:t>
            </a:r>
          </a:p>
        </p:txBody>
      </p:sp>
      <p:sp>
        <p:nvSpPr>
          <p:cNvPr id="7" name="">
            <a:extLst xmlns:a="http://schemas.openxmlformats.org/drawingml/2006/main">
              <a:ext uri="{FF2B5EF4-FFF2-40B4-BE49-F238E27FC236}">
                <a16:creationId xmlns:a16="http://schemas.microsoft.com/office/drawing/2014/main" id="{4076B0F9-4909-4068-8A6E-C9AC50CFBAC4}"/>
              </a:ext>
            </a:extLst>
          </p:cNvPr>
          <p:cNvSpPr>
            <a:spLocks xmlns:a="http://schemas.openxmlformats.org/drawingml/2006/main" noGrp="1"/>
          </p:cNvSpPr>
          <p:nvPr/>
        </p:nvSpPr>
        <p:spPr>
          <a:xfrm xmlns:a="http://schemas.openxmlformats.org/drawingml/2006/main">
            <a:off x="6400800" y="3571875"/>
            <a:ext cx="5095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Other songs sampled from</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weekly Billboard Hot 100 charts</a:t>
            </a:r>
          </a:p>
        </p:txBody>
      </p:sp>
      <p:sp>
        <p:nvSpPr>
          <p:cNvPr id="8" name="">
            <a:extLst xmlns:a="http://schemas.openxmlformats.org/drawingml/2006/main">
              <a:ext uri="{FF2B5EF4-FFF2-40B4-BE49-F238E27FC236}">
                <a16:creationId xmlns:a16="http://schemas.microsoft.com/office/drawing/2014/main" id="{DCCD847C-7EAF-48CA-A7FD-E5826B7BC84D}"/>
              </a:ext>
            </a:extLst>
          </p:cNvPr>
          <p:cNvSpPr>
            <a:spLocks xmlns:a="http://schemas.openxmlformats.org/drawingml/2006/main" noGrp="1"/>
          </p:cNvSpPr>
          <p:nvPr/>
        </p:nvSpPr>
        <p:spPr>
          <a:xfrm xmlns:a="http://schemas.openxmlformats.org/drawingml/2006/main">
            <a:off x="609600" y="5191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66E"/>
                </a:solidFill>
                <a:latin typeface="Helvetica Neue"/>
                <a:ea typeface="Helvetica Neue"/>
                <a:cs typeface="Helvetica Neue"/>
              </a:defRPr>
            </a:pPr>
            <a:r>
              <a:rPr sz="1950" b="0">
                <a:solidFill>
                  <a:srgbClr val="52666E"/>
                </a:solidFill>
                <a:latin typeface="Helvetica Neue"/>
                <a:ea typeface="Helvetica Neue"/>
                <a:cs typeface="Helvetica Neue"/>
              </a:rPr>
              <a:t>Both classes can have charted. This public dataset uses a proxy that differs from the reference paper.</a:t>
            </a:r>
          </a:p>
        </p:txBody>
      </p:sp>
    </p:spTree>
    <p:extLst>
      <p:ext uri="{BB962C8B-B14F-4D97-AF65-F5344CB8AC3E}">
        <p14:creationId xmlns:p14="http://schemas.microsoft.com/office/powerpoint/2010/main" val="8529933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13C097-D165-4E6B-99B8-03DB5845E9CA}"/>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751 songs and 518 chorus features</a:t>
            </a:r>
          </a:p>
        </p:txBody>
      </p:sp>
      <p:sp>
        <p:nvSpPr>
          <p:cNvPr id="2" name="">
            <a:extLst xmlns:a="http://schemas.openxmlformats.org/drawingml/2006/main">
              <a:ext uri="{FF2B5EF4-FFF2-40B4-BE49-F238E27FC236}">
                <a16:creationId xmlns:a16="http://schemas.microsoft.com/office/drawing/2014/main" id="{0070AC79-8E9C-47C5-A853-EC9F8E63CF31}"/>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3</a:t>
            </a:r>
          </a:p>
        </p:txBody>
      </p:sp>
      <p:graphicFrame>
        <p:nvGraphicFramePr>
          <p:cNvPr id="9" name="Chart"/>
          <p:cNvGraphicFramePr/>
          <p:nvPr/>
        </p:nvGraphicFramePr>
        <p:xfrm>
          <a:off xmlns:a="http://schemas.openxmlformats.org/drawingml/2006/main" x="619125" y="1600200"/>
          <a:ext xmlns:a="http://schemas.openxmlformats.org/drawingml/2006/main" cx="6429375" cy="3905250"/>
        </p:xfrm>
        <a:graphic xmlns:a="http://schemas.openxmlformats.org/drawingml/2006/main">
          <a:graphicData uri="http://schemas.openxmlformats.org/drawingml/2006/chart">
            <c:chart xmlns:r="http://schemas.openxmlformats.org/officeDocument/2006/relationships" xmlns:c="http://schemas.openxmlformats.org/drawingml/2006/chart" r:id="R55816c28d12c46e0"/>
          </a:graphicData>
        </a:graphic>
      </p:graphicFrame>
      <p:sp>
        <p:nvSpPr>
          <p:cNvPr id="4" name="">
            <a:extLst xmlns:a="http://schemas.openxmlformats.org/drawingml/2006/main">
              <a:ext uri="{FF2B5EF4-FFF2-40B4-BE49-F238E27FC236}">
                <a16:creationId xmlns:a16="http://schemas.microsoft.com/office/drawing/2014/main" id="{339C446A-FEF5-4A15-BEFC-ABE7E7E9F088}"/>
              </a:ext>
            </a:extLst>
          </p:cNvPr>
          <p:cNvSpPr>
            <a:spLocks xmlns:a="http://schemas.openxmlformats.org/drawingml/2006/main" noGrp="1"/>
          </p:cNvSpPr>
          <p:nvPr/>
        </p:nvSpPr>
        <p:spPr>
          <a:xfrm xmlns:a="http://schemas.openxmlformats.org/drawingml/2006/main">
            <a:off x="7572375" y="1857375"/>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2D37"/>
                </a:solidFill>
                <a:latin typeface="Helvetica Neue"/>
                <a:ea typeface="Helvetica Neue"/>
                <a:cs typeface="Helvetica Neue"/>
              </a:defRPr>
            </a:pPr>
            <a:r>
              <a:rPr sz="2700" b="1">
                <a:solidFill>
                  <a:srgbClr val="172D37"/>
                </a:solidFill>
                <a:latin typeface="Helvetica Neue"/>
                <a:ea typeface="Helvetica Neue"/>
                <a:cs typeface="Helvetica Neue"/>
              </a:rPr>
              <a:t>71 artist names</a:t>
            </a:r>
          </a:p>
        </p:txBody>
      </p:sp>
      <p:sp>
        <p:nvSpPr>
          <p:cNvPr id="5" name="">
            <a:extLst xmlns:a="http://schemas.openxmlformats.org/drawingml/2006/main">
              <a:ext uri="{FF2B5EF4-FFF2-40B4-BE49-F238E27FC236}">
                <a16:creationId xmlns:a16="http://schemas.microsoft.com/office/drawing/2014/main" id="{139C52B8-8D1E-4218-A36B-AFF9AFF64B38}"/>
              </a:ext>
            </a:extLst>
          </p:cNvPr>
          <p:cNvSpPr>
            <a:spLocks xmlns:a="http://schemas.openxmlformats.org/drawingml/2006/main" noGrp="1"/>
          </p:cNvSpPr>
          <p:nvPr/>
        </p:nvSpPr>
        <p:spPr>
          <a:xfrm xmlns:a="http://schemas.openxmlformats.org/drawingml/2006/main">
            <a:off x="7572375" y="2667000"/>
            <a:ext cx="3905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7"/>
                </a:solidFill>
                <a:latin typeface="Helvetica Neue"/>
                <a:ea typeface="Helvetica Neue"/>
                <a:cs typeface="Helvetica Neue"/>
              </a:defRPr>
            </a:pPr>
            <a:r>
              <a:rPr sz="1950" b="0">
                <a:solidFill>
                  <a:srgbClr val="172D37"/>
                </a:solidFill>
                <a:latin typeface="Helvetica Neue"/>
                <a:ea typeface="Helvetica Neue"/>
                <a:cs typeface="Helvetica Neue"/>
              </a:rPr>
              <a:t>2006–2021 source collection</a:t>
            </a:r>
          </a:p>
          <a:p xmlns:a="http://schemas.openxmlformats.org/drawingml/2006/main">
            <a:r>
              <a:t/>
            </a:r>
          </a:p>
          <a:p xmlns:a="http://schemas.openxmlformats.org/drawingml/2006/main">
            <a:pPr>
              <a:defRPr sz="1950" b="0">
                <a:solidFill>
                  <a:srgbClr val="172D37"/>
                </a:solidFill>
                <a:latin typeface="Helvetica Neue"/>
                <a:ea typeface="Helvetica Neue"/>
                <a:cs typeface="Helvetica Neue"/>
              </a:defRPr>
            </a:pPr>
            <a:r>
              <a:rPr sz="1950" b="0">
                <a:solidFill>
                  <a:srgbClr val="172D37"/>
                </a:solidFill>
                <a:latin typeface="Helvetica Neue"/>
                <a:ea typeface="Helvetica Neue"/>
                <a:cs typeface="Helvetica Neue"/>
              </a:rPr>
              <a:t>No missing feature values</a:t>
            </a:r>
          </a:p>
          <a:p xmlns:a="http://schemas.openxmlformats.org/drawingml/2006/main">
            <a:pPr>
              <a:defRPr sz="1950" b="0">
                <a:solidFill>
                  <a:srgbClr val="172D37"/>
                </a:solidFill>
                <a:latin typeface="Helvetica Neue"/>
                <a:ea typeface="Helvetica Neue"/>
                <a:cs typeface="Helvetica Neue"/>
              </a:defRPr>
            </a:pPr>
            <a:r>
              <a:rPr sz="1950" b="0">
                <a:solidFill>
                  <a:srgbClr val="172D37"/>
                </a:solidFill>
                <a:latin typeface="Helvetica Neue"/>
                <a:ea typeface="Helvetica Neue"/>
                <a:cs typeface="Helvetica Neue"/>
              </a:rPr>
              <a:t>No exact duplicate vectors</a:t>
            </a:r>
          </a:p>
        </p:txBody>
      </p:sp>
      <p:sp>
        <p:nvSpPr>
          <p:cNvPr id="6" name="">
            <a:extLst xmlns:a="http://schemas.openxmlformats.org/drawingml/2006/main">
              <a:ext uri="{FF2B5EF4-FFF2-40B4-BE49-F238E27FC236}">
                <a16:creationId xmlns:a16="http://schemas.microsoft.com/office/drawing/2014/main" id="{41748E77-B351-46A4-A8E7-D719D0CAE55E}"/>
              </a:ext>
            </a:extLst>
          </p:cNvPr>
          <p:cNvSpPr>
            <a:spLocks xmlns:a="http://schemas.openxmlformats.org/drawingml/2006/main" noGrp="1"/>
          </p:cNvSpPr>
          <p:nvPr/>
        </p:nvSpPr>
        <p:spPr>
          <a:xfrm xmlns:a="http://schemas.openxmlformats.org/drawingml/2006/main">
            <a:off x="619125" y="57626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66E"/>
                </a:solidFill>
                <a:latin typeface="Helvetica Neue"/>
                <a:ea typeface="Helvetica Neue"/>
                <a:cs typeface="Helvetica Neue"/>
              </a:defRPr>
            </a:pPr>
            <a:r>
              <a:rPr sz="1725" b="0">
                <a:solidFill>
                  <a:srgbClr val="52666E"/>
                </a:solidFill>
                <a:latin typeface="Helvetica Neue"/>
                <a:ea typeface="Helvetica Neue"/>
                <a:cs typeface="Helvetica Neue"/>
              </a:rPr>
              <a:t>Public feature dataset with attribution and a pinned source version. Original recordings are unavailable.</a:t>
            </a:r>
          </a:p>
        </p:txBody>
      </p:sp>
    </p:spTree>
    <p:extLst>
      <p:ext uri="{BB962C8B-B14F-4D97-AF65-F5344CB8AC3E}">
        <p14:creationId xmlns:p14="http://schemas.microsoft.com/office/powerpoint/2010/main" val="167834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AA1CA7-95C5-4717-B11F-A9D6A10D697B}"/>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How a chorus becomes 518 numbers</a:t>
            </a:r>
          </a:p>
        </p:txBody>
      </p:sp>
      <p:sp>
        <p:nvSpPr>
          <p:cNvPr id="2" name="">
            <a:extLst xmlns:a="http://schemas.openxmlformats.org/drawingml/2006/main">
              <a:ext uri="{FF2B5EF4-FFF2-40B4-BE49-F238E27FC236}">
                <a16:creationId xmlns:a16="http://schemas.microsoft.com/office/drawing/2014/main" id="{2909945A-8B2E-4FA5-A5E6-8B87EB344705}"/>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4</a:t>
            </a:r>
          </a:p>
        </p:txBody>
      </p:sp>
      <p:graphicFrame>
        <p:nvGraphicFramePr>
          <p:cNvPr id="8" name=""/>
          <p:cNvGraphicFramePr/>
          <p:nvPr/>
        </p:nvGraphicFramePr>
        <p:xfrm>
          <a:off xmlns:a="http://schemas.openxmlformats.org/drawingml/2006/main" x="609600" y="1524000"/>
          <a:ext xmlns:a="http://schemas.openxmlformats.org/drawingml/2006/main" cx="10972800" cy="3143250"/>
        </p:xfrm>
        <a:graphic xmlns:a="http://schemas.openxmlformats.org/drawingml/2006/main">
          <a:graphicData uri="http://schemas.openxmlformats.org/drawingml/2006/table">
            <a:tbl>
              <a:tblPr/>
              <a:tblGrid>
                <a:gridCol w="7048500"/>
                <a:gridCol w="1771650"/>
                <a:gridCol w="2152650"/>
              </a:tblGrid>
              <a:tr h="523875">
                <a:tc>
                  <a:txBody>
                    <a:bodyPr/>
                    <a:lstStyle/>
                    <a:p>
                      <a:r>
                        <a:rPr sz="1800" b="1">
                          <a:solidFill>
                            <a:srgbClr val="172D37"/>
                          </a:solidFill>
                          <a:latin typeface="Helvetica Neue"/>
                          <a:ea typeface="Helvetica Neue"/>
                          <a:cs typeface="Helvetica Neue"/>
                        </a:rPr>
                        <a:t>Feature group</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Channels</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Values</a:t>
                      </a:r>
                    </a:p>
                  </a:txBody>
                  <a:tcPr marL="114300" marR="95250" marT="66675" marB="66675">
                    <a:solidFill>
                      <a:srgbClr val="EFF5F5"/>
                    </a:solidFill>
                  </a:tcPr>
                </a:tc>
              </a:tr>
              <a:tr h="523875">
                <a:tc>
                  <a:txBody>
                    <a:bodyPr/>
                    <a:lstStyle/>
                    <a:p>
                      <a:r>
                        <a:rPr sz="1800">
                          <a:solidFill>
                            <a:srgbClr val="172D37"/>
                          </a:solidFill>
                          <a:latin typeface="Helvetica Neue"/>
                          <a:ea typeface="Helvetica Neue"/>
                          <a:cs typeface="Helvetica Neue"/>
                        </a:rPr>
                        <a:t>Three chroma representations</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36</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252</a:t>
                      </a:r>
                    </a:p>
                  </a:txBody>
                  <a:tcPr marL="114300" marR="95250" marT="66675" marB="66675">
                    <a:solidFill>
                      <a:srgbClr val="FFFFFF"/>
                    </a:solidFill>
                  </a:tcPr>
                </a:tc>
              </a:tr>
              <a:tr h="523875">
                <a:tc>
                  <a:txBody>
                    <a:bodyPr/>
                    <a:lstStyle/>
                    <a:p>
                      <a:r>
                        <a:rPr sz="1800">
                          <a:solidFill>
                            <a:srgbClr val="172D37"/>
                          </a:solidFill>
                          <a:latin typeface="Helvetica Neue"/>
                          <a:ea typeface="Helvetica Neue"/>
                          <a:cs typeface="Helvetica Neue"/>
                        </a:rPr>
                        <a:t>MFCCs</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20</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140</a:t>
                      </a:r>
                    </a:p>
                  </a:txBody>
                  <a:tcPr marL="114300" marR="95250" marT="66675" marB="66675">
                    <a:solidFill>
                      <a:srgbClr val="FFFFFF"/>
                    </a:solidFill>
                  </a:tcPr>
                </a:tc>
              </a:tr>
              <a:tr h="523875">
                <a:tc>
                  <a:txBody>
                    <a:bodyPr/>
                    <a:lstStyle/>
                    <a:p>
                      <a:r>
                        <a:rPr sz="1800">
                          <a:solidFill>
                            <a:srgbClr val="172D37"/>
                          </a:solidFill>
                          <a:latin typeface="Helvetica Neue"/>
                          <a:ea typeface="Helvetica Neue"/>
                          <a:cs typeface="Helvetica Neue"/>
                        </a:rPr>
                        <a:t>Spectral contrast and tonnetz</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13</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91</a:t>
                      </a:r>
                    </a:p>
                  </a:txBody>
                  <a:tcPr marL="114300" marR="95250" marT="66675" marB="66675">
                    <a:solidFill>
                      <a:srgbClr val="FFFFFF"/>
                    </a:solidFill>
                  </a:tcPr>
                </a:tc>
              </a:tr>
              <a:tr h="523875">
                <a:tc>
                  <a:txBody>
                    <a:bodyPr/>
                    <a:lstStyle/>
                    <a:p>
                      <a:r>
                        <a:rPr sz="1800">
                          <a:solidFill>
                            <a:srgbClr val="172D37"/>
                          </a:solidFill>
                          <a:latin typeface="Helvetica Neue"/>
                          <a:ea typeface="Helvetica Neue"/>
                          <a:cs typeface="Helvetica Neue"/>
                        </a:rPr>
                        <a:t>Five single-channel features</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35</a:t>
                      </a:r>
                    </a:p>
                  </a:txBody>
                  <a:tcPr marL="114300" marR="95250" marT="66675" marB="66675">
                    <a:solidFill>
                      <a:srgbClr val="FFFFFF"/>
                    </a:solidFill>
                  </a:tcPr>
                </a:tc>
              </a:tr>
              <a:tr h="523875">
                <a:tc>
                  <a:txBody>
                    <a:bodyPr/>
                    <a:lstStyle/>
                    <a:p>
                      <a:r>
                        <a:rPr sz="1800">
                          <a:solidFill>
                            <a:srgbClr val="172D37"/>
                          </a:solidFill>
                          <a:latin typeface="Helvetica Neue"/>
                          <a:ea typeface="Helvetica Neue"/>
                          <a:cs typeface="Helvetica Neue"/>
                        </a:rPr>
                        <a:t>Total</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74</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518</a:t>
                      </a:r>
                    </a:p>
                  </a:txBody>
                  <a:tcPr marL="114300" marR="95250" marT="66675" marB="6667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676956-7E3F-4D7B-8DFA-5D849723803D}"/>
              </a:ext>
            </a:extLst>
          </p:cNvPr>
          <p:cNvSpPr>
            <a:spLocks xmlns:a="http://schemas.openxmlformats.org/drawingml/2006/main" noGrp="1"/>
          </p:cNvSpPr>
          <p:nvPr/>
        </p:nvSpPr>
        <p:spPr>
          <a:xfrm xmlns:a="http://schemas.openxmlformats.org/drawingml/2006/main">
            <a:off x="609600" y="50006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7C80"/>
                </a:solidFill>
                <a:latin typeface="Helvetica Neue"/>
                <a:ea typeface="Helvetica Neue"/>
                <a:cs typeface="Helvetica Neue"/>
              </a:defRPr>
            </a:pPr>
            <a:r>
              <a:rPr sz="2250" b="1">
                <a:solidFill>
                  <a:srgbClr val="127C80"/>
                </a:solidFill>
                <a:latin typeface="Helvetica Neue"/>
                <a:ea typeface="Helvetica Neue"/>
                <a:cs typeface="Helvetica Neue"/>
              </a:rPr>
              <a:t>Seven statistics per channel</a:t>
            </a:r>
          </a:p>
        </p:txBody>
      </p:sp>
      <p:sp>
        <p:nvSpPr>
          <p:cNvPr id="5" name="">
            <a:extLst xmlns:a="http://schemas.openxmlformats.org/drawingml/2006/main">
              <a:ext uri="{FF2B5EF4-FFF2-40B4-BE49-F238E27FC236}">
                <a16:creationId xmlns:a16="http://schemas.microsoft.com/office/drawing/2014/main" id="{9D0E0F33-5630-4B2C-9380-6C23119CF273}"/>
              </a:ext>
            </a:extLst>
          </p:cNvPr>
          <p:cNvSpPr>
            <a:spLocks xmlns:a="http://schemas.openxmlformats.org/drawingml/2006/main" noGrp="1"/>
          </p:cNvSpPr>
          <p:nvPr/>
        </p:nvSpPr>
        <p:spPr>
          <a:xfrm xmlns:a="http://schemas.openxmlformats.org/drawingml/2006/main">
            <a:off x="609600" y="5524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7"/>
                </a:solidFill>
                <a:latin typeface="Helvetica Neue"/>
                <a:ea typeface="Helvetica Neue"/>
                <a:cs typeface="Helvetica Neue"/>
              </a:defRPr>
            </a:pPr>
            <a:r>
              <a:rPr sz="1950" b="0">
                <a:solidFill>
                  <a:srgbClr val="172D37"/>
                </a:solidFill>
                <a:latin typeface="Helvetica Neue"/>
                <a:ea typeface="Helvetica Neue"/>
                <a:cs typeface="Helvetica Neue"/>
              </a:rPr>
              <a:t>Skewness, minimum, maximum, standard deviation, mean, median, kurtosis</a:t>
            </a:r>
          </a:p>
        </p:txBody>
      </p:sp>
    </p:spTree>
    <p:extLst>
      <p:ext uri="{BB962C8B-B14F-4D97-AF65-F5344CB8AC3E}">
        <p14:creationId xmlns:p14="http://schemas.microsoft.com/office/powerpoint/2010/main" val="10612370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9733E9-28E1-4398-BA5B-62F9C44C2DAD}"/>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Evaluation on unfamiliar artists</a:t>
            </a:r>
          </a:p>
        </p:txBody>
      </p:sp>
      <p:sp>
        <p:nvSpPr>
          <p:cNvPr id="2" name="">
            <a:extLst xmlns:a="http://schemas.openxmlformats.org/drawingml/2006/main">
              <a:ext uri="{FF2B5EF4-FFF2-40B4-BE49-F238E27FC236}">
                <a16:creationId xmlns:a16="http://schemas.microsoft.com/office/drawing/2014/main" id="{79CEB9E2-6EA7-40E9-8158-3CF49775BD43}"/>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5</a:t>
            </a:r>
          </a:p>
        </p:txBody>
      </p:sp>
      <p:graphicFrame>
        <p:nvGraphicFramePr>
          <p:cNvPr id="8" name=""/>
          <p:cNvGraphicFramePr/>
          <p:nvPr/>
        </p:nvGraphicFramePr>
        <p:xfrm>
          <a:off xmlns:a="http://schemas.openxmlformats.org/drawingml/2006/main" x="609600" y="1476375"/>
          <a:ext xmlns:a="http://schemas.openxmlformats.org/drawingml/2006/main" cx="10972800" cy="1762125"/>
        </p:xfrm>
        <a:graphic xmlns:a="http://schemas.openxmlformats.org/drawingml/2006/main">
          <a:graphicData uri="http://schemas.openxmlformats.org/drawingml/2006/table">
            <a:tbl>
              <a:tblPr/>
              <a:tblGrid>
                <a:gridCol w="7048500"/>
                <a:gridCol w="1771650"/>
                <a:gridCol w="2152650"/>
              </a:tblGrid>
              <a:tr h="587375">
                <a:tc>
                  <a:txBody>
                    <a:bodyPr/>
                    <a:lstStyle/>
                    <a:p>
                      <a:r>
                        <a:rPr sz="1800" b="1">
                          <a:solidFill>
                            <a:srgbClr val="172D37"/>
                          </a:solidFill>
                          <a:latin typeface="Helvetica Neue"/>
                          <a:ea typeface="Helvetica Neue"/>
                          <a:cs typeface="Helvetica Neue"/>
                        </a:rPr>
                        <a:t>Partition</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Songs</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Artists</a:t>
                      </a:r>
                    </a:p>
                  </a:txBody>
                  <a:tcPr marL="114300" marR="95250" marT="66675" marB="66675">
                    <a:solidFill>
                      <a:srgbClr val="EFF5F5"/>
                    </a:solidFill>
                  </a:tcPr>
                </a:tc>
              </a:tr>
              <a:tr h="587375">
                <a:tc>
                  <a:txBody>
                    <a:bodyPr/>
                    <a:lstStyle/>
                    <a:p>
                      <a:r>
                        <a:rPr sz="1800">
                          <a:solidFill>
                            <a:srgbClr val="172D37"/>
                          </a:solidFill>
                          <a:latin typeface="Helvetica Neue"/>
                          <a:ea typeface="Helvetica Neue"/>
                          <a:cs typeface="Helvetica Neue"/>
                        </a:rPr>
                        <a:t>Training and model selection</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597</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a:t>
                      </a:r>
                    </a:p>
                  </a:txBody>
                  <a:tcPr marL="114300" marR="95250" marT="66675" marB="66675">
                    <a:solidFill>
                      <a:srgbClr val="FFFFFF"/>
                    </a:solidFill>
                  </a:tcPr>
                </a:tc>
              </a:tr>
              <a:tr h="587375">
                <a:tc>
                  <a:txBody>
                    <a:bodyPr/>
                    <a:lstStyle/>
                    <a:p>
                      <a:r>
                        <a:rPr sz="1800">
                          <a:solidFill>
                            <a:srgbClr val="172D37"/>
                          </a:solidFill>
                          <a:latin typeface="Helvetica Neue"/>
                          <a:ea typeface="Helvetica Neue"/>
                          <a:cs typeface="Helvetica Neue"/>
                        </a:rPr>
                        <a:t>Final test</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154</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19</a:t>
                      </a:r>
                    </a:p>
                  </a:txBody>
                  <a:tcPr marL="114300" marR="95250" marT="66675" marB="6667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8D219C6-2621-4430-9FA0-9A384B4E29BA}"/>
              </a:ext>
            </a:extLst>
          </p:cNvPr>
          <p:cNvSpPr>
            <a:spLocks xmlns:a="http://schemas.openxmlformats.org/drawingml/2006/main" noGrp="1"/>
          </p:cNvSpPr>
          <p:nvPr/>
        </p:nvSpPr>
        <p:spPr>
          <a:xfrm xmlns:a="http://schemas.openxmlformats.org/drawingml/2006/main">
            <a:off x="609600" y="365760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27C80"/>
                </a:solidFill>
                <a:latin typeface="Helvetica Neue"/>
                <a:ea typeface="Helvetica Neue"/>
                <a:cs typeface="Helvetica Neue"/>
              </a:defRPr>
            </a:pPr>
            <a:r>
              <a:rPr sz="2400" b="1">
                <a:solidFill>
                  <a:srgbClr val="127C80"/>
                </a:solidFill>
                <a:latin typeface="Helvetica Neue"/>
                <a:ea typeface="Helvetica Neue"/>
                <a:cs typeface="Helvetica Neue"/>
              </a:rPr>
              <a:t>No artist appears on both sides of the split</a:t>
            </a:r>
          </a:p>
        </p:txBody>
      </p:sp>
      <p:sp>
        <p:nvSpPr>
          <p:cNvPr id="5" name="">
            <a:extLst xmlns:a="http://schemas.openxmlformats.org/drawingml/2006/main">
              <a:ext uri="{FF2B5EF4-FFF2-40B4-BE49-F238E27FC236}">
                <a16:creationId xmlns:a16="http://schemas.microsoft.com/office/drawing/2014/main" id="{11A0E514-5527-4831-AB3B-B2DAC2BB1C9A}"/>
              </a:ext>
            </a:extLst>
          </p:cNvPr>
          <p:cNvSpPr>
            <a:spLocks xmlns:a="http://schemas.openxmlformats.org/drawingml/2006/main" noGrp="1"/>
          </p:cNvSpPr>
          <p:nvPr/>
        </p:nvSpPr>
        <p:spPr>
          <a:xfrm xmlns:a="http://schemas.openxmlformats.org/drawingml/2006/main">
            <a:off x="609600" y="4400550"/>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Five training folds select model settings by balanced accuracy.</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Preprocessing fits inside those folds.</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The test set evaluates the chosen model after selection.</a:t>
            </a:r>
          </a:p>
        </p:txBody>
      </p:sp>
    </p:spTree>
    <p:extLst>
      <p:ext uri="{BB962C8B-B14F-4D97-AF65-F5344CB8AC3E}">
        <p14:creationId xmlns:p14="http://schemas.microsoft.com/office/powerpoint/2010/main" val="99658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3E4497-2B09-4065-9B3B-B32CE576D218}"/>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Comparison of nine candidates</a:t>
            </a:r>
          </a:p>
        </p:txBody>
      </p:sp>
      <p:sp>
        <p:nvSpPr>
          <p:cNvPr id="2" name="">
            <a:extLst xmlns:a="http://schemas.openxmlformats.org/drawingml/2006/main">
              <a:ext uri="{FF2B5EF4-FFF2-40B4-BE49-F238E27FC236}">
                <a16:creationId xmlns:a16="http://schemas.microsoft.com/office/drawing/2014/main" id="{D4EA4FF4-C58D-49AB-86E0-8EE19FB70D5C}"/>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09600" y="1428750"/>
          <a:ext xmlns:a="http://schemas.openxmlformats.org/drawingml/2006/main" cx="10972800" cy="4286250"/>
        </p:xfrm>
        <a:graphic xmlns:a="http://schemas.openxmlformats.org/drawingml/2006/main">
          <a:graphicData uri="http://schemas.openxmlformats.org/drawingml/2006/table">
            <a:tbl>
              <a:tblPr/>
              <a:tblGrid>
                <a:gridCol w="5829300"/>
                <a:gridCol w="1714500"/>
                <a:gridCol w="1714500"/>
                <a:gridCol w="1714500"/>
              </a:tblGrid>
              <a:tr h="428625">
                <a:tc>
                  <a:txBody>
                    <a:bodyPr/>
                    <a:lstStyle/>
                    <a:p>
                      <a:r>
                        <a:rPr sz="1800" b="1">
                          <a:solidFill>
                            <a:srgbClr val="172D37"/>
                          </a:solidFill>
                          <a:latin typeface="Helvetica Neue"/>
                          <a:ea typeface="Helvetica Neue"/>
                          <a:cs typeface="Helvetica Neue"/>
                        </a:rPr>
                        <a:t>Model</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CV BA</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Test BA</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Test F1</a:t>
                      </a:r>
                    </a:p>
                  </a:txBody>
                  <a:tcPr marL="114300" marR="95250" marT="66675" marB="66675">
                    <a:solidFill>
                      <a:srgbClr val="EFF5F5"/>
                    </a:solidFill>
                  </a:tcPr>
                </a:tc>
              </a:tr>
              <a:tr h="428625">
                <a:tc>
                  <a:txBody>
                    <a:bodyPr/>
                    <a:lstStyle/>
                    <a:p>
                      <a:r>
                        <a:rPr sz="1800">
                          <a:solidFill>
                            <a:srgbClr val="172D37"/>
                          </a:solidFill>
                          <a:latin typeface="Helvetica Neue"/>
                          <a:ea typeface="Helvetica Neue"/>
                          <a:cs typeface="Helvetica Neue"/>
                        </a:rPr>
                        <a:t>Majority baseline</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50.0%</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50.0%</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0.000</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Logistic regression</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52.3%</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52.5%</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0.503</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LDA</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52.8%</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52.6%</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0.523</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Linear SVM</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49.6%</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55.2%</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0.537</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RBF SVM</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52.8%</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50.5%</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0.449</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Polynomial SVM *</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53.6%</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46.6%</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0.406</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Random forest</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53.3%</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52.4%</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0.459</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Gradient boosting</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51.8%</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53.0%</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0.419</a:t>
                      </a:r>
                    </a:p>
                  </a:txBody>
                  <a:tcPr marL="114300" marR="95250" marT="66675" marB="66675">
                    <a:solidFill>
                      <a:srgbClr val="FFFFFF"/>
                    </a:solidFill>
                  </a:tcPr>
                </a:tc>
              </a:tr>
              <a:tr h="428625">
                <a:tc>
                  <a:txBody>
                    <a:bodyPr/>
                    <a:lstStyle/>
                    <a:p>
                      <a:r>
                        <a:rPr sz="1800">
                          <a:solidFill>
                            <a:srgbClr val="172D37"/>
                          </a:solidFill>
                          <a:latin typeface="Helvetica Neue"/>
                          <a:ea typeface="Helvetica Neue"/>
                          <a:cs typeface="Helvetica Neue"/>
                        </a:rPr>
                        <a:t>Neural network</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49.9%</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52.7%</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0.552</a:t>
                      </a:r>
                    </a:p>
                  </a:txBody>
                  <a:tcPr marL="114300" marR="95250" marT="66675" marB="6667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C7856F0-0D45-4B17-AF79-490B80D931FE}"/>
              </a:ext>
            </a:extLst>
          </p:cNvPr>
          <p:cNvSpPr>
            <a:spLocks xmlns:a="http://schemas.openxmlformats.org/drawingml/2006/main" noGrp="1"/>
          </p:cNvSpPr>
          <p:nvPr/>
        </p:nvSpPr>
        <p:spPr>
          <a:xfrm xmlns:a="http://schemas.openxmlformats.org/drawingml/2006/main">
            <a:off x="609600" y="59245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66E"/>
                </a:solidFill>
                <a:latin typeface="Helvetica Neue"/>
                <a:ea typeface="Helvetica Neue"/>
                <a:cs typeface="Helvetica Neue"/>
              </a:defRPr>
            </a:pPr>
            <a:r>
              <a:rPr sz="1650" b="0">
                <a:solidFill>
                  <a:srgbClr val="52666E"/>
                </a:solidFill>
                <a:latin typeface="Helvetica Neue"/>
                <a:ea typeface="Helvetica Neue"/>
                <a:cs typeface="Helvetica Neue"/>
              </a:rPr>
              <a:t>* Selected from training CV. BA = balanced accuracy. All test scores use unseen artists.</a:t>
            </a:r>
          </a:p>
        </p:txBody>
      </p:sp>
    </p:spTree>
    <p:extLst>
      <p:ext uri="{BB962C8B-B14F-4D97-AF65-F5344CB8AC3E}">
        <p14:creationId xmlns:p14="http://schemas.microsoft.com/office/powerpoint/2010/main" val="1524427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540831-80F0-4B10-9CDB-1AEC4F13FB46}"/>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The selected model did not beat the baseline</a:t>
            </a:r>
          </a:p>
        </p:txBody>
      </p:sp>
      <p:sp>
        <p:nvSpPr>
          <p:cNvPr id="2" name="">
            <a:extLst xmlns:a="http://schemas.openxmlformats.org/drawingml/2006/main">
              <a:ext uri="{FF2B5EF4-FFF2-40B4-BE49-F238E27FC236}">
                <a16:creationId xmlns:a16="http://schemas.microsoft.com/office/drawing/2014/main" id="{BBEFF5E6-482F-4791-B66E-BC1835964390}"/>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7</a:t>
            </a:r>
          </a:p>
        </p:txBody>
      </p:sp>
      <p:graphicFrame>
        <p:nvGraphicFramePr>
          <p:cNvPr id="10" name=""/>
          <p:cNvGraphicFramePr/>
          <p:nvPr/>
        </p:nvGraphicFramePr>
        <p:xfrm>
          <a:off xmlns:a="http://schemas.openxmlformats.org/drawingml/2006/main" x="609600" y="1809750"/>
          <a:ext xmlns:a="http://schemas.openxmlformats.org/drawingml/2006/main" cx="5857875" cy="2095500"/>
        </p:xfrm>
        <a:graphic xmlns:a="http://schemas.openxmlformats.org/drawingml/2006/main">
          <a:graphicData uri="http://schemas.openxmlformats.org/drawingml/2006/table">
            <a:tbl>
              <a:tblPr/>
              <a:tblGrid>
                <a:gridCol w="3381375"/>
                <a:gridCol w="1238250"/>
                <a:gridCol w="1238250"/>
              </a:tblGrid>
              <a:tr h="698500">
                <a:tc>
                  <a:txBody>
                    <a:bodyPr/>
                    <a:lstStyle/>
                    <a:p>
                      <a:r>
                        <a:rPr sz="1800" b="1">
                          <a:solidFill>
                            <a:srgbClr val="172D37"/>
                          </a:solidFill>
                          <a:latin typeface="Helvetica Neue"/>
                          <a:ea typeface="Helvetica Neue"/>
                          <a:cs typeface="Helvetica Neue"/>
                        </a:rPr>
                        <a:t>Actual / predicted</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Other</a:t>
                      </a:r>
                    </a:p>
                  </a:txBody>
                  <a:tcPr marL="114300" marR="95250" marT="66675" marB="66675">
                    <a:solidFill>
                      <a:srgbClr val="EFF5F5"/>
                    </a:solidFill>
                  </a:tcPr>
                </a:tc>
                <a:tc>
                  <a:txBody>
                    <a:bodyPr/>
                    <a:lstStyle/>
                    <a:p>
                      <a:r>
                        <a:rPr sz="1800" b="1">
                          <a:solidFill>
                            <a:srgbClr val="172D37"/>
                          </a:solidFill>
                          <a:latin typeface="Helvetica Neue"/>
                          <a:ea typeface="Helvetica Neue"/>
                          <a:cs typeface="Helvetica Neue"/>
                        </a:rPr>
                        <a:t>Hit</a:t>
                      </a:r>
                    </a:p>
                  </a:txBody>
                  <a:tcPr marL="114300" marR="95250" marT="66675" marB="66675">
                    <a:solidFill>
                      <a:srgbClr val="EFF5F5"/>
                    </a:solidFill>
                  </a:tcPr>
                </a:tc>
              </a:tr>
              <a:tr h="698500">
                <a:tc>
                  <a:txBody>
                    <a:bodyPr/>
                    <a:lstStyle/>
                    <a:p>
                      <a:r>
                        <a:rPr sz="1800">
                          <a:solidFill>
                            <a:srgbClr val="172D37"/>
                          </a:solidFill>
                          <a:latin typeface="Helvetica Neue"/>
                          <a:ea typeface="Helvetica Neue"/>
                          <a:cs typeface="Helvetica Neue"/>
                        </a:rPr>
                        <a:t>Other chart song</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44</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34</a:t>
                      </a:r>
                    </a:p>
                  </a:txBody>
                  <a:tcPr marL="114300" marR="95250" marT="66675" marB="66675">
                    <a:solidFill>
                      <a:srgbClr val="FFFFFF"/>
                    </a:solidFill>
                  </a:tcPr>
                </a:tc>
              </a:tr>
              <a:tr h="698500">
                <a:tc>
                  <a:txBody>
                    <a:bodyPr/>
                    <a:lstStyle/>
                    <a:p>
                      <a:r>
                        <a:rPr sz="1800">
                          <a:solidFill>
                            <a:srgbClr val="172D37"/>
                          </a:solidFill>
                          <a:latin typeface="Helvetica Neue"/>
                          <a:ea typeface="Helvetica Neue"/>
                          <a:cs typeface="Helvetica Neue"/>
                        </a:rPr>
                        <a:t>Year-end hit</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48</a:t>
                      </a:r>
                    </a:p>
                  </a:txBody>
                  <a:tcPr marL="114300" marR="95250" marT="66675" marB="66675">
                    <a:solidFill>
                      <a:srgbClr val="FFFFFF"/>
                    </a:solidFill>
                  </a:tcPr>
                </a:tc>
                <a:tc>
                  <a:txBody>
                    <a:bodyPr/>
                    <a:lstStyle/>
                    <a:p>
                      <a:r>
                        <a:rPr sz="1800">
                          <a:solidFill>
                            <a:srgbClr val="172D37"/>
                          </a:solidFill>
                          <a:latin typeface="Helvetica Neue"/>
                          <a:ea typeface="Helvetica Neue"/>
                          <a:cs typeface="Helvetica Neue"/>
                        </a:rPr>
                        <a:t>28</a:t>
                      </a:r>
                    </a:p>
                  </a:txBody>
                  <a:tcPr marL="114300" marR="95250" marT="66675" marB="6667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DCD9B0B-5519-4A4B-B5FE-0E36E1F2D7FA}"/>
              </a:ext>
            </a:extLst>
          </p:cNvPr>
          <p:cNvSpPr>
            <a:spLocks xmlns:a="http://schemas.openxmlformats.org/drawingml/2006/main" noGrp="1"/>
          </p:cNvSpPr>
          <p:nvPr/>
        </p:nvSpPr>
        <p:spPr>
          <a:xfrm xmlns:a="http://schemas.openxmlformats.org/drawingml/2006/main">
            <a:off x="7191375" y="157162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27C80"/>
                </a:solidFill>
                <a:latin typeface="Helvetica Neue"/>
                <a:ea typeface="Helvetica Neue"/>
                <a:cs typeface="Helvetica Neue"/>
              </a:defRPr>
            </a:pPr>
            <a:r>
              <a:rPr sz="5700" b="1">
                <a:solidFill>
                  <a:srgbClr val="127C80"/>
                </a:solidFill>
                <a:latin typeface="Helvetica Neue"/>
                <a:ea typeface="Helvetica Neue"/>
                <a:cs typeface="Helvetica Neue"/>
              </a:rPr>
              <a:t>46.6%</a:t>
            </a:r>
          </a:p>
        </p:txBody>
      </p:sp>
      <p:sp>
        <p:nvSpPr>
          <p:cNvPr id="5" name="">
            <a:extLst xmlns:a="http://schemas.openxmlformats.org/drawingml/2006/main">
              <a:ext uri="{FF2B5EF4-FFF2-40B4-BE49-F238E27FC236}">
                <a16:creationId xmlns:a16="http://schemas.microsoft.com/office/drawing/2014/main" id="{8F51E766-5385-46A8-8DC1-761D13169F3E}"/>
              </a:ext>
            </a:extLst>
          </p:cNvPr>
          <p:cNvSpPr>
            <a:spLocks xmlns:a="http://schemas.openxmlformats.org/drawingml/2006/main" noGrp="1"/>
          </p:cNvSpPr>
          <p:nvPr/>
        </p:nvSpPr>
        <p:spPr>
          <a:xfrm xmlns:a="http://schemas.openxmlformats.org/drawingml/2006/main">
            <a:off x="7191375" y="2762250"/>
            <a:ext cx="4286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D37"/>
                </a:solidFill>
                <a:latin typeface="Helvetica Neue"/>
                <a:ea typeface="Helvetica Neue"/>
                <a:cs typeface="Helvetica Neue"/>
              </a:defRPr>
            </a:pPr>
            <a:r>
              <a:rPr sz="2250" b="0">
                <a:solidFill>
                  <a:srgbClr val="172D37"/>
                </a:solidFill>
                <a:latin typeface="Helvetica Neue"/>
                <a:ea typeface="Helvetica Neue"/>
                <a:cs typeface="Helvetica Neue"/>
              </a:rPr>
              <a:t>Test balanced accuracy</a:t>
            </a:r>
          </a:p>
          <a:p xmlns:a="http://schemas.openxmlformats.org/drawingml/2006/main">
            <a:pPr>
              <a:defRPr sz="2250" b="0">
                <a:solidFill>
                  <a:srgbClr val="172D37"/>
                </a:solidFill>
                <a:latin typeface="Helvetica Neue"/>
                <a:ea typeface="Helvetica Neue"/>
                <a:cs typeface="Helvetica Neue"/>
              </a:defRPr>
            </a:pPr>
            <a:r>
              <a:rPr sz="2250" b="0">
                <a:solidFill>
                  <a:srgbClr val="172D37"/>
                </a:solidFill>
                <a:latin typeface="Helvetica Neue"/>
                <a:ea typeface="Helvetica Neue"/>
                <a:cs typeface="Helvetica Neue"/>
              </a:rPr>
              <a:t>Baseline: 50.0%</a:t>
            </a:r>
          </a:p>
        </p:txBody>
      </p:sp>
      <p:sp>
        <p:nvSpPr>
          <p:cNvPr id="6" name="">
            <a:extLst xmlns:a="http://schemas.openxmlformats.org/drawingml/2006/main">
              <a:ext uri="{FF2B5EF4-FFF2-40B4-BE49-F238E27FC236}">
                <a16:creationId xmlns:a16="http://schemas.microsoft.com/office/drawing/2014/main" id="{1BBCD81F-831F-43E6-8084-76DC7C7603EB}"/>
              </a:ext>
            </a:extLst>
          </p:cNvPr>
          <p:cNvSpPr>
            <a:spLocks xmlns:a="http://schemas.openxmlformats.org/drawingml/2006/main" noGrp="1"/>
          </p:cNvSpPr>
          <p:nvPr/>
        </p:nvSpPr>
        <p:spPr>
          <a:xfrm xmlns:a="http://schemas.openxmlformats.org/drawingml/2006/main">
            <a:off x="609600" y="4552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2D37"/>
                </a:solidFill>
                <a:latin typeface="Helvetica Neue"/>
                <a:ea typeface="Helvetica Neue"/>
                <a:cs typeface="Helvetica Neue"/>
              </a:defRPr>
            </a:pPr>
            <a:r>
              <a:rPr sz="2625" b="1">
                <a:solidFill>
                  <a:srgbClr val="172D37"/>
                </a:solidFill>
                <a:latin typeface="Helvetica Neue"/>
                <a:ea typeface="Helvetica Neue"/>
                <a:cs typeface="Helvetica Neue"/>
              </a:rPr>
              <a:t>95% interval: 38.7%–55.8%</a:t>
            </a:r>
          </a:p>
        </p:txBody>
      </p:sp>
      <p:sp>
        <p:nvSpPr>
          <p:cNvPr id="7" name="">
            <a:extLst xmlns:a="http://schemas.openxmlformats.org/drawingml/2006/main">
              <a:ext uri="{FF2B5EF4-FFF2-40B4-BE49-F238E27FC236}">
                <a16:creationId xmlns:a16="http://schemas.microsoft.com/office/drawing/2014/main" id="{C4A05B57-C791-4667-BD0A-06BD4755CF0A}"/>
              </a:ext>
            </a:extLst>
          </p:cNvPr>
          <p:cNvSpPr>
            <a:spLocks xmlns:a="http://schemas.openxmlformats.org/drawingml/2006/main" noGrp="1"/>
          </p:cNvSpPr>
          <p:nvPr/>
        </p:nvSpPr>
        <p:spPr>
          <a:xfrm xmlns:a="http://schemas.openxmlformats.org/drawingml/2006/main">
            <a:off x="609600" y="53149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66E"/>
                </a:solidFill>
                <a:latin typeface="Helvetica Neue"/>
                <a:ea typeface="Helvetica Neue"/>
                <a:cs typeface="Helvetica Neue"/>
              </a:defRPr>
            </a:pPr>
            <a:r>
              <a:rPr sz="2175" b="0">
                <a:solidFill>
                  <a:srgbClr val="52666E"/>
                </a:solidFill>
                <a:latin typeface="Helvetica Neue"/>
                <a:ea typeface="Helvetica Neue"/>
                <a:cs typeface="Helvetica Neue"/>
              </a:rPr>
              <a:t>The interval includes chance performance. These features did not generalize reliably to unfamiliar artists.</a:t>
            </a:r>
          </a:p>
        </p:txBody>
      </p:sp>
    </p:spTree>
    <p:extLst>
      <p:ext uri="{BB962C8B-B14F-4D97-AF65-F5344CB8AC3E}">
        <p14:creationId xmlns:p14="http://schemas.microsoft.com/office/powerpoint/2010/main" val="167330914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B1786F-73BC-4DF7-A189-43BCA25F793E}"/>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784A84EB-FC9B-4B69-93EA-A54B1B011315}"/>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8</a:t>
            </a:r>
          </a:p>
        </p:txBody>
      </p:sp>
      <p:sp>
        <p:nvSpPr>
          <p:cNvPr id="3" name="">
            <a:extLst xmlns:a="http://schemas.openxmlformats.org/drawingml/2006/main">
              <a:ext uri="{FF2B5EF4-FFF2-40B4-BE49-F238E27FC236}">
                <a16:creationId xmlns:a16="http://schemas.microsoft.com/office/drawing/2014/main" id="{58FA2E98-4009-4BB5-A2DB-3AB0BEEC37D8}"/>
              </a:ext>
            </a:extLst>
          </p:cNvPr>
          <p:cNvSpPr>
            <a:spLocks xmlns:a="http://schemas.openxmlformats.org/drawingml/2006/main" noGrp="1"/>
          </p:cNvSpPr>
          <p:nvPr/>
        </p:nvSpPr>
        <p:spPr>
          <a:xfrm xmlns:a="http://schemas.openxmlformats.org/drawingml/2006/main">
            <a:off x="609600" y="165735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7C80"/>
                </a:solidFill>
                <a:latin typeface="Helvetica Neue"/>
                <a:ea typeface="Helvetica Neue"/>
                <a:cs typeface="Helvetica Neue"/>
              </a:defRPr>
            </a:pPr>
            <a:r>
              <a:rPr sz="2475" b="1">
                <a:solidFill>
                  <a:srgbClr val="127C80"/>
                </a:solidFill>
                <a:latin typeface="Helvetica Neue"/>
                <a:ea typeface="Helvetica Neue"/>
                <a:cs typeface="Helvetica Neue"/>
              </a:rPr>
              <a:t>Held-out song prediction</a:t>
            </a:r>
          </a:p>
        </p:txBody>
      </p:sp>
      <p:sp>
        <p:nvSpPr>
          <p:cNvPr id="4" name="">
            <a:extLst xmlns:a="http://schemas.openxmlformats.org/drawingml/2006/main">
              <a:ext uri="{FF2B5EF4-FFF2-40B4-BE49-F238E27FC236}">
                <a16:creationId xmlns:a16="http://schemas.microsoft.com/office/drawing/2014/main" id="{1B86CB2C-EBBE-4105-A030-4EDB0549B16B}"/>
              </a:ext>
            </a:extLst>
          </p:cNvPr>
          <p:cNvSpPr>
            <a:spLocks xmlns:a="http://schemas.openxmlformats.org/drawingml/2006/main" noGrp="1"/>
          </p:cNvSpPr>
          <p:nvPr/>
        </p:nvSpPr>
        <p:spPr>
          <a:xfrm xmlns:a="http://schemas.openxmlformats.org/drawingml/2006/main">
            <a:off x="609600" y="2305050"/>
            <a:ext cx="10858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Choose a song, predict its class, and compare the dataset label.</a:t>
            </a:r>
          </a:p>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Inspect the errors and model comparison in the results tab.</a:t>
            </a:r>
          </a:p>
        </p:txBody>
      </p:sp>
      <p:sp>
        <p:nvSpPr>
          <p:cNvPr id="5" name="">
            <a:extLst xmlns:a="http://schemas.openxmlformats.org/drawingml/2006/main">
              <a:ext uri="{FF2B5EF4-FFF2-40B4-BE49-F238E27FC236}">
                <a16:creationId xmlns:a16="http://schemas.microsoft.com/office/drawing/2014/main" id="{87283FC3-E258-4FDB-A349-75F0B98D65B7}"/>
              </a:ext>
            </a:extLst>
          </p:cNvPr>
          <p:cNvSpPr>
            <a:spLocks xmlns:a="http://schemas.openxmlformats.org/drawingml/2006/main" noGrp="1"/>
          </p:cNvSpPr>
          <p:nvPr/>
        </p:nvSpPr>
        <p:spPr>
          <a:xfrm xmlns:a="http://schemas.openxmlformats.org/drawingml/2006/main">
            <a:off x="609600" y="38100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27C80"/>
                </a:solidFill>
                <a:latin typeface="Helvetica Neue"/>
                <a:ea typeface="Helvetica Neue"/>
                <a:cs typeface="Helvetica Neue"/>
              </a:defRPr>
            </a:pPr>
            <a:r>
              <a:rPr sz="2475" b="1">
                <a:solidFill>
                  <a:srgbClr val="127C80"/>
                </a:solidFill>
                <a:latin typeface="Helvetica Neue"/>
                <a:ea typeface="Helvetica Neue"/>
                <a:cs typeface="Helvetica Neue"/>
              </a:rPr>
              <a:t>Uploaded audio experiment</a:t>
            </a:r>
          </a:p>
        </p:txBody>
      </p:sp>
      <p:sp>
        <p:nvSpPr>
          <p:cNvPr id="6" name="">
            <a:extLst xmlns:a="http://schemas.openxmlformats.org/drawingml/2006/main">
              <a:ext uri="{FF2B5EF4-FFF2-40B4-BE49-F238E27FC236}">
                <a16:creationId xmlns:a16="http://schemas.microsoft.com/office/drawing/2014/main" id="{6E22D453-D7D5-41FE-88A5-6F0B5218E26B}"/>
              </a:ext>
            </a:extLst>
          </p:cNvPr>
          <p:cNvSpPr>
            <a:spLocks xmlns:a="http://schemas.openxmlformats.org/drawingml/2006/main" noGrp="1"/>
          </p:cNvSpPr>
          <p:nvPr/>
        </p:nvSpPr>
        <p:spPr>
          <a:xfrm xmlns:a="http://schemas.openxmlformats.org/drawingml/2006/main">
            <a:off x="609600" y="445770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Select a 15-second segment automatically or by start time.</a:t>
            </a:r>
          </a:p>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Listen to it, extract 518 features, and show the model output.</a:t>
            </a:r>
          </a:p>
        </p:txBody>
      </p:sp>
      <p:sp>
        <p:nvSpPr>
          <p:cNvPr id="7" name="">
            <a:extLst xmlns:a="http://schemas.openxmlformats.org/drawingml/2006/main">
              <a:ext uri="{FF2B5EF4-FFF2-40B4-BE49-F238E27FC236}">
                <a16:creationId xmlns:a16="http://schemas.microsoft.com/office/drawing/2014/main" id="{0C1C909E-72EA-418F-9249-042788726FBC}"/>
              </a:ext>
            </a:extLst>
          </p:cNvPr>
          <p:cNvSpPr>
            <a:spLocks xmlns:a="http://schemas.openxmlformats.org/drawingml/2006/main" noGrp="1"/>
          </p:cNvSpPr>
          <p:nvPr/>
        </p:nvSpPr>
        <p:spPr>
          <a:xfrm xmlns:a="http://schemas.openxmlformats.org/drawingml/2006/main">
            <a:off x="609600" y="58102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66E"/>
                </a:solidFill>
                <a:latin typeface="Helvetica Neue"/>
                <a:ea typeface="Helvetica Neue"/>
                <a:cs typeface="Helvetica Neue"/>
              </a:defRPr>
            </a:pPr>
            <a:r>
              <a:rPr sz="1725" b="0">
                <a:solidFill>
                  <a:srgbClr val="52666E"/>
                </a:solidFill>
                <a:latin typeface="Helvetica Neue"/>
                <a:ea typeface="Helvetica Neue"/>
                <a:cs typeface="Helvetica Neue"/>
              </a:rPr>
              <a:t>New-audio predictions are exploratory because source recordings and the exact extraction environment are unavailable.</a:t>
            </a:r>
          </a:p>
        </p:txBody>
      </p:sp>
    </p:spTree>
    <p:extLst>
      <p:ext uri="{BB962C8B-B14F-4D97-AF65-F5344CB8AC3E}">
        <p14:creationId xmlns:p14="http://schemas.microsoft.com/office/powerpoint/2010/main" val="137502731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7A46BEC-A012-445E-A99A-4352FF350548}"/>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Conclusion and next steps</a:t>
            </a:r>
          </a:p>
        </p:txBody>
      </p:sp>
      <p:sp>
        <p:nvSpPr>
          <p:cNvPr id="2" name="">
            <a:extLst xmlns:a="http://schemas.openxmlformats.org/drawingml/2006/main">
              <a:ext uri="{FF2B5EF4-FFF2-40B4-BE49-F238E27FC236}">
                <a16:creationId xmlns:a16="http://schemas.microsoft.com/office/drawing/2014/main" id="{17217FCA-5F64-44D2-9C76-ED0D017E1951}"/>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F316BD2D-6671-4B68-A9BA-3FF8C7EF9C80}"/>
              </a:ext>
            </a:extLst>
          </p:cNvPr>
          <p:cNvSpPr>
            <a:spLocks xmlns:a="http://schemas.openxmlformats.org/drawingml/2006/main" noGrp="1"/>
          </p:cNvSpPr>
          <p:nvPr/>
        </p:nvSpPr>
        <p:spPr>
          <a:xfrm xmlns:a="http://schemas.openxmlformats.org/drawingml/2006/main">
            <a:off x="609600" y="1562100"/>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27C80"/>
                </a:solidFill>
                <a:latin typeface="Helvetica Neue"/>
                <a:ea typeface="Helvetica Neue"/>
                <a:cs typeface="Helvetica Neue"/>
              </a:defRPr>
            </a:pPr>
            <a:r>
              <a:rPr sz="2925" b="1">
                <a:solidFill>
                  <a:srgbClr val="127C80"/>
                </a:solidFill>
                <a:latin typeface="Helvetica Neue"/>
                <a:ea typeface="Helvetica Neue"/>
                <a:cs typeface="Helvetica Neue"/>
              </a:rPr>
              <a:t>No reliable advantage from these chorus features</a:t>
            </a:r>
          </a:p>
        </p:txBody>
      </p:sp>
      <p:sp>
        <p:nvSpPr>
          <p:cNvPr id="4" name="">
            <a:extLst xmlns:a="http://schemas.openxmlformats.org/drawingml/2006/main">
              <a:ext uri="{FF2B5EF4-FFF2-40B4-BE49-F238E27FC236}">
                <a16:creationId xmlns:a16="http://schemas.microsoft.com/office/drawing/2014/main" id="{0628D6ED-0ABD-4390-BACE-792D90AF3241}"/>
              </a:ext>
            </a:extLst>
          </p:cNvPr>
          <p:cNvSpPr>
            <a:spLocks xmlns:a="http://schemas.openxmlformats.org/drawingml/2006/main" noGrp="1"/>
          </p:cNvSpPr>
          <p:nvPr/>
        </p:nvSpPr>
        <p:spPr>
          <a:xfrm xmlns:a="http://schemas.openxmlformats.org/drawingml/2006/main">
            <a:off x="609600" y="27622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The current data do not support confident predictions for new artists.</a:t>
            </a:r>
          </a:p>
          <a:p xmlns:a="http://schemas.openxmlformats.org/drawingml/2006/main">
            <a:pPr>
              <a:defRPr sz="2175" b="0">
                <a:solidFill>
                  <a:srgbClr val="172D37"/>
                </a:solidFill>
                <a:latin typeface="Helvetica Neue"/>
                <a:ea typeface="Helvetica Neue"/>
                <a:cs typeface="Helvetica Neue"/>
              </a:defRPr>
            </a:pPr>
            <a:r>
              <a:rPr sz="2175" b="0">
                <a:solidFill>
                  <a:srgbClr val="172D37"/>
                </a:solidFill>
                <a:latin typeface="Helvetica Neue"/>
                <a:ea typeface="Helvetica Neue"/>
                <a:cs typeface="Helvetica Neue"/>
              </a:rPr>
              <a:t>Popularity also depends on factors outside this experiment.</a:t>
            </a:r>
          </a:p>
        </p:txBody>
      </p:sp>
      <p:sp>
        <p:nvSpPr>
          <p:cNvPr id="5" name="">
            <a:extLst xmlns:a="http://schemas.openxmlformats.org/drawingml/2006/main">
              <a:ext uri="{FF2B5EF4-FFF2-40B4-BE49-F238E27FC236}">
                <a16:creationId xmlns:a16="http://schemas.microsoft.com/office/drawing/2014/main" id="{E48019A5-A913-4AAE-A625-307039088600}"/>
              </a:ext>
            </a:extLst>
          </p:cNvPr>
          <p:cNvSpPr>
            <a:spLocks xmlns:a="http://schemas.openxmlformats.org/drawingml/2006/main" noGrp="1"/>
          </p:cNvSpPr>
          <p:nvPr/>
        </p:nvSpPr>
        <p:spPr>
          <a:xfrm xmlns:a="http://schemas.openxmlformats.org/drawingml/2006/main">
            <a:off x="609600" y="43148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2D37"/>
                </a:solidFill>
                <a:latin typeface="Helvetica Neue"/>
                <a:ea typeface="Helvetica Neue"/>
                <a:cs typeface="Helvetica Neue"/>
              </a:defRPr>
            </a:pPr>
            <a:r>
              <a:rPr sz="2475" b="1">
                <a:solidFill>
                  <a:srgbClr val="172D37"/>
                </a:solidFill>
                <a:latin typeface="Helvetica Neue"/>
                <a:ea typeface="Helvetica Neue"/>
                <a:cs typeface="Helvetica Neue"/>
              </a:rPr>
              <a:t>A stronger follow-up study</a:t>
            </a:r>
          </a:p>
        </p:txBody>
      </p:sp>
      <p:sp>
        <p:nvSpPr>
          <p:cNvPr id="6" name="">
            <a:extLst xmlns:a="http://schemas.openxmlformats.org/drawingml/2006/main">
              <a:ext uri="{FF2B5EF4-FFF2-40B4-BE49-F238E27FC236}">
                <a16:creationId xmlns:a16="http://schemas.microsoft.com/office/drawing/2014/main" id="{3AFEF400-7ABC-4C68-AA86-B32AEC9DC074}"/>
              </a:ext>
            </a:extLst>
          </p:cNvPr>
          <p:cNvSpPr>
            <a:spLocks xmlns:a="http://schemas.openxmlformats.org/drawingml/2006/main" noGrp="1"/>
          </p:cNvSpPr>
          <p:nvPr/>
        </p:nvSpPr>
        <p:spPr>
          <a:xfrm xmlns:a="http://schemas.openxmlformats.org/drawingml/2006/main">
            <a:off x="609600" y="4914900"/>
            <a:ext cx="10858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Verify chart labels and collect consistent licensed audio.</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Re-extract every chorus with one configuration.</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Evaluate later releases and unfamiliar artists.</a:t>
            </a:r>
          </a:p>
        </p:txBody>
      </p:sp>
    </p:spTree>
    <p:extLst>
      <p:ext uri="{BB962C8B-B14F-4D97-AF65-F5344CB8AC3E}">
        <p14:creationId xmlns:p14="http://schemas.microsoft.com/office/powerpoint/2010/main" val="20005618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84AAF1-E96D-4233-B73A-CED403FAFD9B}"/>
              </a:ext>
            </a:extLst>
          </p:cNvPr>
          <p:cNvSpPr>
            <a:spLocks xmlns:a="http://schemas.openxmlformats.org/drawingml/2006/main" noGrp="1"/>
          </p:cNvSpPr>
          <p:nvPr/>
        </p:nvSpPr>
        <p:spPr>
          <a:xfrm xmlns:a="http://schemas.openxmlformats.org/drawingml/2006/main">
            <a:off x="609600" y="4000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D37"/>
                </a:solidFill>
                <a:latin typeface="Helvetica Neue"/>
                <a:ea typeface="Helvetica Neue"/>
                <a:cs typeface="Helvetica Neue"/>
              </a:defRPr>
            </a:pPr>
            <a:r>
              <a:rPr sz="3300" b="1">
                <a:solidFill>
                  <a:srgbClr val="172D37"/>
                </a:solidFill>
                <a:latin typeface="Helvetica Neue"/>
                <a:ea typeface="Helvetica Neue"/>
                <a:cs typeface="Helvetica Neue"/>
              </a:rPr>
              <a:t>Sources and reproducible materials</a:t>
            </a:r>
          </a:p>
        </p:txBody>
      </p:sp>
      <p:sp>
        <p:nvSpPr>
          <p:cNvPr id="2" name="">
            <a:extLst xmlns:a="http://schemas.openxmlformats.org/drawingml/2006/main">
              <a:ext uri="{FF2B5EF4-FFF2-40B4-BE49-F238E27FC236}">
                <a16:creationId xmlns:a16="http://schemas.microsoft.com/office/drawing/2014/main" id="{D69EB907-EE42-408D-8506-3814AB91B3E9}"/>
              </a:ext>
            </a:extLst>
          </p:cNvPr>
          <p:cNvSpPr>
            <a:spLocks xmlns:a="http://schemas.openxmlformats.org/drawingml/2006/main" noGrp="1"/>
          </p:cNvSpPr>
          <p:nvPr/>
        </p:nvSpPr>
        <p:spPr>
          <a:xfrm xmlns:a="http://schemas.openxmlformats.org/drawingml/2006/main">
            <a:off x="11144250" y="63627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6E"/>
                </a:solidFill>
                <a:latin typeface="Helvetica Neue"/>
                <a:ea typeface="Helvetica Neue"/>
                <a:cs typeface="Helvetica Neue"/>
              </a:defRPr>
            </a:pPr>
            <a:r>
              <a:rPr sz="1350" b="0">
                <a:solidFill>
                  <a:srgbClr val="52666E"/>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C06B0E4-0C12-424A-A7BD-0849F3CFB4D0}"/>
              </a:ext>
            </a:extLst>
          </p:cNvPr>
          <p:cNvSpPr>
            <a:spLocks xmlns:a="http://schemas.openxmlformats.org/drawingml/2006/main" noGrp="1"/>
          </p:cNvSpPr>
          <p:nvPr/>
        </p:nvSpPr>
        <p:spPr>
          <a:xfrm xmlns:a="http://schemas.openxmlformats.org/drawingml/2006/main">
            <a:off x="609600" y="1571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7C80"/>
                </a:solidFill>
                <a:latin typeface="Helvetica Neue"/>
                <a:ea typeface="Helvetica Neue"/>
                <a:cs typeface="Helvetica Neue"/>
              </a:defRPr>
            </a:pPr>
            <a:r>
              <a:rPr sz="2325" b="1">
                <a:solidFill>
                  <a:srgbClr val="127C80"/>
                </a:solidFill>
                <a:latin typeface="Helvetica Neue"/>
                <a:ea typeface="Helvetica Neue"/>
                <a:cs typeface="Helvetica Neue"/>
              </a:rPr>
              <a:t>Reference paper</a:t>
            </a:r>
          </a:p>
        </p:txBody>
      </p:sp>
      <p:sp>
        <p:nvSpPr>
          <p:cNvPr id="4" name="">
            <a:extLst xmlns:a="http://schemas.openxmlformats.org/drawingml/2006/main">
              <a:ext uri="{FF2B5EF4-FFF2-40B4-BE49-F238E27FC236}">
                <a16:creationId xmlns:a16="http://schemas.microsoft.com/office/drawing/2014/main" id="{200D520B-F67A-4A8D-8C62-EA203A62F5CE}"/>
              </a:ext>
            </a:extLst>
          </p:cNvPr>
          <p:cNvSpPr>
            <a:spLocks xmlns:a="http://schemas.openxmlformats.org/drawingml/2006/main" noGrp="1"/>
          </p:cNvSpPr>
          <p:nvPr/>
        </p:nvSpPr>
        <p:spPr>
          <a:xfrm xmlns:a="http://schemas.openxmlformats.org/drawingml/2006/main">
            <a:off x="609600" y="21050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Eric Liu, CS229, 2021</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Predicting Hit Songs Using Repeated Chorus</a:t>
            </a:r>
          </a:p>
        </p:txBody>
      </p:sp>
      <p:sp>
        <p:nvSpPr>
          <p:cNvPr id="5" name="">
            <a:extLst xmlns:a="http://schemas.openxmlformats.org/drawingml/2006/main">
              <a:ext uri="{FF2B5EF4-FFF2-40B4-BE49-F238E27FC236}">
                <a16:creationId xmlns:a16="http://schemas.microsoft.com/office/drawing/2014/main" id="{26E0AE6B-4179-4F63-9FBC-5248BC0DE8C6}"/>
              </a:ext>
            </a:extLst>
          </p:cNvPr>
          <p:cNvSpPr>
            <a:spLocks xmlns:a="http://schemas.openxmlformats.org/drawingml/2006/main" noGrp="1"/>
          </p:cNvSpPr>
          <p:nvPr/>
        </p:nvSpPr>
        <p:spPr>
          <a:xfrm xmlns:a="http://schemas.openxmlformats.org/drawingml/2006/main">
            <a:off x="609600" y="34004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7C80"/>
                </a:solidFill>
                <a:latin typeface="Helvetica Neue"/>
                <a:ea typeface="Helvetica Neue"/>
                <a:cs typeface="Helvetica Neue"/>
              </a:defRPr>
            </a:pPr>
            <a:r>
              <a:rPr sz="2325" b="1">
                <a:solidFill>
                  <a:srgbClr val="127C80"/>
                </a:solidFill>
                <a:latin typeface="Helvetica Neue"/>
                <a:ea typeface="Helvetica Neue"/>
                <a:cs typeface="Helvetica Neue"/>
              </a:rPr>
              <a:t>Dataset</a:t>
            </a:r>
          </a:p>
        </p:txBody>
      </p:sp>
      <p:sp>
        <p:nvSpPr>
          <p:cNvPr id="6" name="">
            <a:extLst xmlns:a="http://schemas.openxmlformats.org/drawingml/2006/main">
              <a:ext uri="{FF2B5EF4-FFF2-40B4-BE49-F238E27FC236}">
                <a16:creationId xmlns:a16="http://schemas.microsoft.com/office/drawing/2014/main" id="{431C8C7C-F47C-45EC-81A9-D85554CF830A}"/>
              </a:ext>
            </a:extLst>
          </p:cNvPr>
          <p:cNvSpPr>
            <a:spLocks xmlns:a="http://schemas.openxmlformats.org/drawingml/2006/main" noGrp="1"/>
          </p:cNvSpPr>
          <p:nvPr/>
        </p:nvSpPr>
        <p:spPr>
          <a:xfrm xmlns:a="http://schemas.openxmlformats.org/drawingml/2006/main">
            <a:off x="609600" y="39338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Antonios Malak’s public chorus-feature dataset</a:t>
            </a:r>
          </a:p>
          <a:p xmlns:a="http://schemas.openxmlformats.org/drawingml/2006/main">
            <a:pPr>
              <a:defRPr sz="2100" b="0">
                <a:solidFill>
                  <a:srgbClr val="172D37"/>
                </a:solidFill>
                <a:latin typeface="Helvetica Neue"/>
                <a:ea typeface="Helvetica Neue"/>
                <a:cs typeface="Helvetica Neue"/>
              </a:defRPr>
            </a:pPr>
            <a:r>
              <a:rPr sz="2100" b="0">
                <a:solidFill>
                  <a:srgbClr val="172D37"/>
                </a:solidFill>
                <a:latin typeface="Helvetica Neue"/>
                <a:ea typeface="Helvetica Neue"/>
                <a:cs typeface="Helvetica Neue"/>
              </a:rPr>
              <a:t>Apache-2.0 · pinned source commit 838e76f</a:t>
            </a:r>
          </a:p>
        </p:txBody>
      </p:sp>
      <p:sp>
        <p:nvSpPr>
          <p:cNvPr id="7" name="">
            <a:extLst xmlns:a="http://schemas.openxmlformats.org/drawingml/2006/main">
              <a:ext uri="{FF2B5EF4-FFF2-40B4-BE49-F238E27FC236}">
                <a16:creationId xmlns:a16="http://schemas.microsoft.com/office/drawing/2014/main" id="{A9CBF753-EEC8-4595-8198-B34A0F09FE04}"/>
              </a:ext>
            </a:extLst>
          </p:cNvPr>
          <p:cNvSpPr>
            <a:spLocks xmlns:a="http://schemas.openxmlformats.org/drawingml/2006/main" noGrp="1"/>
          </p:cNvSpPr>
          <p:nvPr/>
        </p:nvSpPr>
        <p:spPr>
          <a:xfrm xmlns:a="http://schemas.openxmlformats.org/drawingml/2006/main">
            <a:off x="609600" y="5229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7C80"/>
                </a:solidFill>
                <a:latin typeface="Helvetica Neue"/>
                <a:ea typeface="Helvetica Neue"/>
                <a:cs typeface="Helvetica Neue"/>
              </a:defRPr>
            </a:pPr>
            <a:r>
              <a:rPr sz="2325" b="1">
                <a:solidFill>
                  <a:srgbClr val="127C80"/>
                </a:solidFill>
                <a:latin typeface="Helvetica Neue"/>
                <a:ea typeface="Helvetica Neue"/>
                <a:cs typeface="Helvetica Neue"/>
              </a:rPr>
              <a:t>Repository</a:t>
            </a:r>
          </a:p>
        </p:txBody>
      </p:sp>
      <p:sp>
        <p:nvSpPr>
          <p:cNvPr id="8" name="">
            <a:extLst xmlns:a="http://schemas.openxmlformats.org/drawingml/2006/main">
              <a:ext uri="{FF2B5EF4-FFF2-40B4-BE49-F238E27FC236}">
                <a16:creationId xmlns:a16="http://schemas.microsoft.com/office/drawing/2014/main" id="{1B861F6C-4D3D-4E15-A509-B863C8A84FB8}"/>
              </a:ext>
            </a:extLst>
          </p:cNvPr>
          <p:cNvSpPr>
            <a:spLocks xmlns:a="http://schemas.openxmlformats.org/drawingml/2006/main" noGrp="1"/>
          </p:cNvSpPr>
          <p:nvPr/>
        </p:nvSpPr>
        <p:spPr>
          <a:xfrm xmlns:a="http://schemas.openxmlformats.org/drawingml/2006/main">
            <a:off x="609600" y="571500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7"/>
                </a:solidFill>
                <a:latin typeface="Helvetica Neue"/>
                <a:ea typeface="Helvetica Neue"/>
                <a:cs typeface="Helvetica Neue"/>
              </a:defRPr>
            </a:pPr>
            <a:r>
              <a:rPr sz="1875" b="0">
                <a:solidFill>
                  <a:srgbClr val="172D37"/>
                </a:solidFill>
                <a:latin typeface="Helvetica Neue"/>
                <a:ea typeface="Helvetica Neue"/>
                <a:cs typeface="Helvetica Neue"/>
              </a:rPr>
              <a:t>github.com/DhanushSS/chorus-hit-predictor</a:t>
            </a:r>
          </a:p>
          <a:p xmlns:a="http://schemas.openxmlformats.org/drawingml/2006/main">
            <a:pPr>
              <a:defRPr sz="1875" b="0">
                <a:solidFill>
                  <a:srgbClr val="172D37"/>
                </a:solidFill>
                <a:latin typeface="Helvetica Neue"/>
                <a:ea typeface="Helvetica Neue"/>
                <a:cs typeface="Helvetica Neue"/>
              </a:defRPr>
            </a:pPr>
            <a:r>
              <a:rPr sz="1875" b="0">
                <a:solidFill>
                  <a:srgbClr val="172D37"/>
                </a:solidFill>
                <a:latin typeface="Helvetica Neue"/>
                <a:ea typeface="Helvetica Neue"/>
                <a:cs typeface="Helvetica Neue"/>
              </a:rPr>
              <a:t>Code, notebook, data provenance, metrics, model, and reports</a:t>
            </a:r>
          </a:p>
        </p:txBody>
      </p:sp>
    </p:spTree>
    <p:extLst>
      <p:ext uri="{BB962C8B-B14F-4D97-AF65-F5344CB8AC3E}">
        <p14:creationId xmlns:p14="http://schemas.microsoft.com/office/powerpoint/2010/main" val="1084132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2026-09-30T12:41:35.1070000Z</dcterms:created>
  <dcterms:modified xsi:type="dcterms:W3CDTF">2026-09-30T12:41:35.1080000Z</dcterms:modified>
</coreProperties>
</file>