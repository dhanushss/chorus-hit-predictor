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6a6129a4b4f4221" /><Relationship Type="http://schemas.openxmlformats.org/officeDocument/2006/relationships/extended-properties" Target="/docProps/app.xml" Id="Rec446b7faae84eed" /><Relationship Type="http://schemas.openxmlformats.org/officeDocument/2006/relationships/officeDocument" Target="/ppt/presentation.xml" Id="R9285779f10f04c45" /></Relationships>
</file>

<file path=ppt/presentation.xml><?xml version="1.0" encoding="utf-8"?>
<p:presentation xmlns:p="http://schemas.openxmlformats.org/presentationml/2006/main">
  <p:sldMasterIdLst>
    <p:sldMasterId xmlns:r="http://schemas.openxmlformats.org/officeDocument/2006/relationships" id="2147483648" r:id="R7949aa8507a647a6"/>
  </p:sldMasterIdLst>
  <p:notesMasterIdLst>
    <p:notesMasterId xmlns:r="http://schemas.openxmlformats.org/officeDocument/2006/relationships" r:id="Rac36f08ddb7241a8"/>
  </p:notesMasterIdLst>
  <p:sldIdLst>
    <p:sldId xmlns:r="http://schemas.openxmlformats.org/officeDocument/2006/relationships" id="256" r:id="R705fdfab1c8b450c"/>
    <p:sldId xmlns:r="http://schemas.openxmlformats.org/officeDocument/2006/relationships" id="257" r:id="Rb2dce6946dfe45f8"/>
    <p:sldId xmlns:r="http://schemas.openxmlformats.org/officeDocument/2006/relationships" id="258" r:id="R01d0d9c7eb784234"/>
    <p:sldId xmlns:r="http://schemas.openxmlformats.org/officeDocument/2006/relationships" id="259" r:id="R6a1026d8b262400c"/>
    <p:sldId xmlns:r="http://schemas.openxmlformats.org/officeDocument/2006/relationships" id="260" r:id="Rbcb4048f67cd4eb8"/>
    <p:sldId xmlns:r="http://schemas.openxmlformats.org/officeDocument/2006/relationships" id="261" r:id="Rad41df04c80a410a"/>
    <p:sldId xmlns:r="http://schemas.openxmlformats.org/officeDocument/2006/relationships" id="262" r:id="Rcffc3ee0c30b487c"/>
    <p:sldId xmlns:r="http://schemas.openxmlformats.org/officeDocument/2006/relationships" id="263" r:id="R1ebe05cfb5254e58"/>
    <p:sldId xmlns:r="http://schemas.openxmlformats.org/officeDocument/2006/relationships" id="264" r:id="Ra84dccff57ab4208"/>
    <p:sldId xmlns:r="http://schemas.openxmlformats.org/officeDocument/2006/relationships" id="265" r:id="R5ad0f578b35a44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b9ca3c163f4f4f" /><Relationship Type="http://schemas.openxmlformats.org/officeDocument/2006/relationships/slideMaster" Target="/ppt/slideMasters/slideMaster1.xml" Id="R7949aa8507a647a6" /><Relationship Type="http://schemas.openxmlformats.org/officeDocument/2006/relationships/notesMaster" Target="/ppt/notesMasters/notesMaster1.xml" Id="Rac36f08ddb7241a8" /><Relationship Type="http://schemas.openxmlformats.org/officeDocument/2006/relationships/presProps" Target="/ppt/presProps.xml" Id="R1f88791946ce463b" /><Relationship Type="http://schemas.openxmlformats.org/officeDocument/2006/relationships/tableStyles" Target="/ppt/tableStyles.xml" Id="R93f73f611aee4714" /><Relationship Type="http://schemas.openxmlformats.org/officeDocument/2006/relationships/slide" Target="/ppt/slides/slide1.xml" Id="R705fdfab1c8b450c" /><Relationship Type="http://schemas.openxmlformats.org/officeDocument/2006/relationships/slide" Target="/ppt/slides/slide2.xml" Id="Rb2dce6946dfe45f8" /><Relationship Type="http://schemas.openxmlformats.org/officeDocument/2006/relationships/slide" Target="/ppt/slides/slide3.xml" Id="R01d0d9c7eb784234" /><Relationship Type="http://schemas.openxmlformats.org/officeDocument/2006/relationships/slide" Target="/ppt/slides/slide4.xml" Id="R6a1026d8b262400c" /><Relationship Type="http://schemas.openxmlformats.org/officeDocument/2006/relationships/slide" Target="/ppt/slides/slide5.xml" Id="Rbcb4048f67cd4eb8" /><Relationship Type="http://schemas.openxmlformats.org/officeDocument/2006/relationships/slide" Target="/ppt/slides/slide6.xml" Id="Rad41df04c80a410a" /><Relationship Type="http://schemas.openxmlformats.org/officeDocument/2006/relationships/slide" Target="/ppt/slides/slide7.xml" Id="Rcffc3ee0c30b487c" /><Relationship Type="http://schemas.openxmlformats.org/officeDocument/2006/relationships/slide" Target="/ppt/slides/slide8.xml" Id="R1ebe05cfb5254e58" /><Relationship Type="http://schemas.openxmlformats.org/officeDocument/2006/relationships/slide" Target="/ppt/slides/slide9.xml" Id="Ra84dccff57ab4208" /><Relationship Type="http://schemas.openxmlformats.org/officeDocument/2006/relationships/slide" Target="/ppt/slides/slide10.xml" Id="R5ad0f578b35a44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52750ba14a4f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17db4da5984fd5" /><Relationship Type="http://schemas.openxmlformats.org/officeDocument/2006/relationships/notesMaster" Target="/ppt/notesMasters/notesMaster1.xml" Id="R1410a36a7fce48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1170ccdaf64c88" /><Relationship Type="http://schemas.openxmlformats.org/officeDocument/2006/relationships/notesMaster" Target="/ppt/notesMasters/notesMaster1.xml" Id="Rcffd4b19bf7240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ef70a390cc4ea7" /><Relationship Type="http://schemas.openxmlformats.org/officeDocument/2006/relationships/notesMaster" Target="/ppt/notesMasters/notesMaster1.xml" Id="R5c18774124784a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285df30cd84a47" /><Relationship Type="http://schemas.openxmlformats.org/officeDocument/2006/relationships/notesMaster" Target="/ppt/notesMasters/notesMaster1.xml" Id="R91e3c3a9f0c146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063b0e7bf74ad7" /><Relationship Type="http://schemas.openxmlformats.org/officeDocument/2006/relationships/notesMaster" Target="/ppt/notesMasters/notesMaster1.xml" Id="Rf0266824a18f44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a8270245444d78" /><Relationship Type="http://schemas.openxmlformats.org/officeDocument/2006/relationships/notesMaster" Target="/ppt/notesMasters/notesMaster1.xml" Id="R386a6f1cf0004e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dc9015f2b643aa" /><Relationship Type="http://schemas.openxmlformats.org/officeDocument/2006/relationships/notesMaster" Target="/ppt/notesMasters/notesMaster1.xml" Id="Raa4f1bb3d5f647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b75445cee043d9" /><Relationship Type="http://schemas.openxmlformats.org/officeDocument/2006/relationships/notesMaster" Target="/ppt/notesMasters/notesMaster1.xml" Id="R8d23f7e831d349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21411861714c62" /><Relationship Type="http://schemas.openxmlformats.org/officeDocument/2006/relationships/notesMaster" Target="/ppt/notesMasters/notesMaster1.xml" Id="R76dac0d3b66d48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12458462be4535" /><Relationship Type="http://schemas.openxmlformats.org/officeDocument/2006/relationships/notesMaster" Target="/ppt/notesMasters/notesMaster1.xml" Id="R442605c8b4f347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supplied through Eric Liu's reference report: https://cs229.stanford.edu/proj2021spr/report2/81974051.pdf. This October update preserves the original task and adds reproducible audit and development experiments. Both students should understand the implementation and evidence. Materials prepared with Codex assistance.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is unchanged: year-end hit versus other chart song. Both classes can have charted. Counts from validated legacy CSV and results/audit/v1_independent_verification.json. The public reproduction differs from the supplied paper. Source: https://github.com/AntoniosMalak/Predicting-Hit-Songs-Using-Repeated-Chorus, commit 838e76f. Label collection: its CollectData.ipynb. No new labels or source recordings were created.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results/baseline/v1_manifest.json, results/audit/v1_reproduction_comparison.json and test logs. The complete V1 rerun matched all nine model metrics and 154 predictions. F06/F07 repairs identify actual source bytes and reject false upstream provenance. Shared artifact loader validates run, schema, label and hash identities. These engineering repairs do not by themselves improve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 development uses the original training membership only. Evidence: configs/v2_thorough.json and results/v2/v2_nested_001/outer_folds.json. Five outer folds assess the procedure, with three inner grouped folds selecting across the whole candidate list. Original historical membership is fixed. Artist strings are normalized, not fully resolved canonical performers. No fresh test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35 declared configurations, with fixed seeds 42/43/44. Sources: configs/v2_quick.json, configs/v2_thorough.json and immutable ablation tables. The same candidate list preceded both runs. Original V1 candidate families remain as controls; Extra Trees is new. Mutual-information selection is seeded and learned within each fold. No adaptive search of favorable seeds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results/v2/v2_nested_001/summary.json and predictions.csv. Values describe the selection procedure's outer-fold predictions on 597 songs across 52 artist groups. The final development candidate is lr_mi_50, logistic regression with 50 MI-selected features. Balanced accuracy interval: 48.3% to 57.3%. Bootstrap resamples whole artist groups and conditions on recorded predictions. No fresh-test confirmation. Strict checks use unrounded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columns evaluate the same 154 songs from 19 artist-string groups. V2 was frozen before this deliberate historical invocation. Sources: results/v2/v1_baseline/summary.json and results/evaluations/v2_nested_001_historical/summary.json. V1 selected polynomial SVM; V2 final candidate logistic regression plus 50 MI features. This is a historical comparison because these test labels and results were already inspected. The paired interval uses identical resampled groups for both predictions. No promotion based on historical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curves describe the final selected configuration as a retrospective diagnostic. They are not fresh evaluation or a new estimate of the selection procedure. Source: results/v2/v2_nested_001/learning_curves.csv. Fitting subsets use deterministic whole-artist selections inside the same three grouped development folds. Wider group coverage improves measured validation in these points, but this does not prove a causal explanation or forecast 75%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 app.py uses chorus_hit/artifacts.py for run/hash/schema checks. Default active run is v1_baseline; V2 is explicitly a research option. Ingestion/shared extraction/MERT cache interfaces exist and have synthetic software tests. There are zero eligible original recordings in data/recording_audit_v1.json. MERT execution and ablations have not run. Required: permitted real audio, recording/performer identities, verified labels/windows, reviewed pinned local model weights and compatible optional dependencies. Source model card: https://huggingface.co/m-a-p/MERT-v1-95M.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75% target was not reached. Nested BA 52.9% with interval including 50%; historical BA 55.2% with paired change interval including zero. No fresh confirmation or real embedding results. Source paper: https://cs229.stanford.edu/proj2021spr/report2/81974051.pdf. Feature dataset: https://github.com/AntoniosMalak/Predicting-Hit-Songs-Using-Repeated-Chorus, Apache-2.0, commit 838e76f. Method: https://scikit-learn.org/stable/auto_examples/model_selection/plot_nested_cross_validation_iris.html. Local branch audit/chorus-v2 contains the complete evidence and preserves original authorship/attribution. It has not been pushed.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d86cbafc584f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27b6ee217b4cb4" /><Relationship Type="http://schemas.openxmlformats.org/officeDocument/2006/relationships/slideLayout" Target="/ppt/slideLayouts/slideLayout1.xml" Id="R4d5f11a289c64c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5f11a289c64c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362ab115134a39" /><Relationship Type="http://schemas.openxmlformats.org/officeDocument/2006/relationships/notesSlide" Target="/ppt/notesSlides/notesSlide1.xml" Id="R4df1c43f04074d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7d42d79bfc4c98" /><Relationship Type="http://schemas.openxmlformats.org/officeDocument/2006/relationships/notesSlide" Target="/ppt/notesSlides/notesSlide2.xml" Id="R81de13e1122b4d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6c70f5fb7f4e26" /><Relationship Type="http://schemas.openxmlformats.org/officeDocument/2006/relationships/notesSlide" Target="/ppt/notesSlides/notesSlide3.xml" Id="Rc3c6261eea954a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c628047e0747fd" /><Relationship Type="http://schemas.openxmlformats.org/officeDocument/2006/relationships/notesSlide" Target="/ppt/notesSlides/notesSlide4.xml" Id="R2d5297b5d6804b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7c2e1011e44df2" /><Relationship Type="http://schemas.openxmlformats.org/officeDocument/2006/relationships/notesSlide" Target="/ppt/notesSlides/notesSlide5.xml" Id="R5668a2c575ae4a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9e31a515dd4d78" /><Relationship Type="http://schemas.openxmlformats.org/officeDocument/2006/relationships/chart" Target="/ppt/slides/charts/chart1.xml" Id="R6878ff24c0ff40a4" /><Relationship Type="http://schemas.openxmlformats.org/officeDocument/2006/relationships/notesSlide" Target="/ppt/notesSlides/notesSlide6.xml" Id="R13972c4d3f3b4a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9d0616de2e43dc" /><Relationship Type="http://schemas.openxmlformats.org/officeDocument/2006/relationships/notesSlide" Target="/ppt/notesSlides/notesSlide7.xml" Id="Raf04fbbab7c343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055e318cce4ce4" /><Relationship Type="http://schemas.openxmlformats.org/officeDocument/2006/relationships/chart" Target="/ppt/slides/charts/chart2.xml" Id="R2971c35431c9420b" /><Relationship Type="http://schemas.openxmlformats.org/officeDocument/2006/relationships/notesSlide" Target="/ppt/notesSlides/notesSlide8.xml" Id="Ra4996a5a323e45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7f34352c1348e7" /><Relationship Type="http://schemas.openxmlformats.org/officeDocument/2006/relationships/notesSlide" Target="/ppt/notesSlides/notesSlide9.xml" Id="R12e949e6956941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bd153c34e24d56" /><Relationship Type="http://schemas.openxmlformats.org/officeDocument/2006/relationships/notesSlide" Target="/ppt/notesSlides/notesSlide10.xml" Id="R935d4a1518a344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Nested development</c:v>
          </c:tx>
          <c:spPr>
            <a:solidFill xmlns:a="http://schemas.openxmlformats.org/drawingml/2006/main">
              <a:srgbClr val="127C80"/>
            </a:solidFill>
          </c:spPr>
          <c:cat>
            <c:strRef>
              <c:f>'Chart Data'!$A$2:$A$6</c:f>
              <c:strCache>
                <c:ptCount val="5"/>
                <c:pt idx="0">
                  <c:v>Accuracy</c:v>
                </c:pt>
                <c:pt idx="1">
                  <c:v>Balanced accuracy</c:v>
                </c:pt>
                <c:pt idx="2">
                  <c:v>Precision</c:v>
                </c:pt>
                <c:pt idx="3">
                  <c:v>Recall</c:v>
                </c:pt>
                <c:pt idx="4">
                  <c:v>F1</c:v>
                </c:pt>
              </c:strCache>
            </c:strRef>
          </c:cat>
          <c:val>
            <c:numRef>
              <c:f>'Chart Data'!$B$2:$B$6</c:f>
              <c:numCache>
                <c:formatCode>General</c:formatCode>
                <c:ptCount val="5"/>
                <c:pt idx="0">
                  <c:v>52.9</c:v>
                </c:pt>
                <c:pt idx="1">
                  <c:v>52.9</c:v>
                </c:pt>
                <c:pt idx="2">
                  <c:v>51.6</c:v>
                </c:pt>
                <c:pt idx="3">
                  <c:v>50</c:v>
                </c:pt>
                <c:pt idx="4">
                  <c:v>50.8</c:v>
                </c:pt>
              </c:numCache>
            </c:numRef>
          </c:val>
        </c:ser>
        <c:ser>
          <c:idx val="1"/>
          <c:order val="1"/>
          <c:tx>
            <c:v>75% boundary</c:v>
          </c:tx>
          <c:spPr>
            <a:solidFill xmlns:a="http://schemas.openxmlformats.org/drawingml/2006/main">
              <a:srgbClr val="D5E1E2"/>
            </a:solidFill>
          </c:spPr>
          <c:cat>
            <c:strRef>
              <c:f>'Chart Data'!$C$2:$C$6</c:f>
              <c:strCache>
                <c:ptCount val="5"/>
                <c:pt idx="0">
                  <c:v>Accuracy</c:v>
                </c:pt>
                <c:pt idx="1">
                  <c:v>Balanced accuracy</c:v>
                </c:pt>
                <c:pt idx="2">
                  <c:v>Precision</c:v>
                </c:pt>
                <c:pt idx="3">
                  <c:v>Recall</c:v>
                </c:pt>
                <c:pt idx="4">
                  <c:v>F1</c:v>
                </c:pt>
              </c:strCache>
            </c:strRef>
          </c:cat>
          <c:val>
            <c:numRef>
              <c:f>'Chart Data'!$D$2:$D$6</c:f>
              <c:numCache>
                <c:formatCode>General</c:formatCode>
                <c:ptCount val="5"/>
                <c:pt idx="0">
                  <c:v>75</c:v>
                </c:pt>
                <c:pt idx="1">
                  <c:v>75</c:v>
                </c:pt>
                <c:pt idx="2">
                  <c:v>75</c:v>
                </c:pt>
                <c:pt idx="3">
                  <c:v>75</c:v>
                </c:pt>
                <c:pt idx="4">
                  <c:v>75</c:v>
                </c:pt>
              </c:numCache>
            </c:numRef>
          </c:val>
        </c:ser>
        <c:dLbls>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72768"/>
      </c:catAx>
      <c:valAx>
        <c:axId val="48672768"/>
        <c:scaling>
          <c:orientation val="minMax"/>
          <c:max val="100"/>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Percent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majorUnit val="25"/>
      </c:valAx>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Training</c:v>
          </c:tx>
          <c:spPr>
            <a:ln xmlns:a="http://schemas.openxmlformats.org/drawingml/2006/main" w="28575">
              <a:solidFill>
                <a:srgbClr val="C77D22"/>
              </a:solidFill>
            </a:ln>
          </c:spPr>
          <c:marker>
            <c:symbol val="none"/>
          </c:marker>
          <c:cat>
            <c:numRef>
              <c:f>'Chart Data'!$A$2:$A$4</c:f>
              <c:numCache>
                <c:formatCode>General</c:formatCode>
                <c:ptCount val="3"/>
                <c:pt idx="0">
                  <c:v>9.3</c:v>
                </c:pt>
                <c:pt idx="1">
                  <c:v>17.7</c:v>
                </c:pt>
                <c:pt idx="2">
                  <c:v>34.7</c:v>
                </c:pt>
              </c:numCache>
            </c:numRef>
          </c:cat>
          <c:val>
            <c:numRef>
              <c:f>'Chart Data'!$B$2:$B$4</c:f>
              <c:numCache>
                <c:formatCode>General</c:formatCode>
                <c:ptCount val="3"/>
                <c:pt idx="0">
                  <c:v>81.5</c:v>
                </c:pt>
                <c:pt idx="1">
                  <c:v>70.1</c:v>
                </c:pt>
                <c:pt idx="2">
                  <c:v>65.1</c:v>
                </c:pt>
              </c:numCache>
            </c:numRef>
          </c:val>
        </c:ser>
        <c:ser>
          <c:idx val="1"/>
          <c:order val="1"/>
          <c:tx>
            <c:v>Validation</c:v>
          </c:tx>
          <c:spPr>
            <a:ln xmlns:a="http://schemas.openxmlformats.org/drawingml/2006/main" w="28575">
              <a:solidFill>
                <a:srgbClr val="127C80"/>
              </a:solidFill>
            </a:ln>
          </c:spPr>
          <c:marker>
            <c:symbol val="none"/>
          </c:marker>
          <c:cat>
            <c:numRef>
              <c:f>'Chart Data'!$C$2:$C$4</c:f>
              <c:numCache>
                <c:formatCode>General</c:formatCode>
                <c:ptCount val="3"/>
                <c:pt idx="0">
                  <c:v>9.3</c:v>
                </c:pt>
                <c:pt idx="1">
                  <c:v>17.7</c:v>
                </c:pt>
                <c:pt idx="2">
                  <c:v>34.7</c:v>
                </c:pt>
              </c:numCache>
            </c:numRef>
          </c:cat>
          <c:val>
            <c:numRef>
              <c:f>'Chart Data'!$D$2:$D$4</c:f>
              <c:numCache>
                <c:formatCode>General</c:formatCode>
                <c:ptCount val="3"/>
                <c:pt idx="0">
                  <c:v>49.5</c:v>
                </c:pt>
                <c:pt idx="1">
                  <c:v>51.4</c:v>
                </c:pt>
                <c:pt idx="2">
                  <c:v>52.9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Mean fitting artist groups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Helvetica Neue"/>
                <a:ea typeface="Helvetica Neue"/>
                <a:cs typeface="Helvetica Neue"/>
              </a:defRPr>
            </a:pPr>
          </a:p>
        </c:txPr>
        <c:crossAx val="48672768"/>
      </c:catAx>
      <c:valAx>
        <c:axId val="48672768"/>
        <c:scaling>
          <c:orientation val="minMax"/>
          <c:max val="100"/>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Balanced accuracy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crossBetween val="between"/>
        <c:majorUnit val="25"/>
      </c:valAx>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7B4C5E-2BCE-4B55-8979-BFE20106BAB9}"/>
              </a:ext>
            </a:extLst>
          </p:cNvPr>
          <p:cNvSpPr>
            <a:spLocks xmlns:a="http://schemas.openxmlformats.org/drawingml/2006/main" noGrp="1"/>
          </p:cNvSpPr>
          <p:nvPr/>
        </p:nvSpPr>
        <p:spPr>
          <a:xfrm xmlns:a="http://schemas.openxmlformats.org/drawingml/2006/main">
            <a:off x="11144250" y="6362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1</a:t>
            </a:r>
          </a:p>
        </p:txBody>
      </p:sp>
      <p:sp>
        <p:nvSpPr>
          <p:cNvPr id="2" name="">
            <a:extLst xmlns:a="http://schemas.openxmlformats.org/drawingml/2006/main">
              <a:ext uri="{FF2B5EF4-FFF2-40B4-BE49-F238E27FC236}">
                <a16:creationId xmlns:a16="http://schemas.microsoft.com/office/drawing/2014/main" id="{4181655D-792D-4C06-AD19-0DCECD057AF7}"/>
              </a:ext>
            </a:extLst>
          </p:cNvPr>
          <p:cNvSpPr>
            <a:spLocks xmlns:a="http://schemas.openxmlformats.org/drawingml/2006/main" noGrp="1"/>
          </p:cNvSpPr>
          <p:nvPr/>
        </p:nvSpPr>
        <p:spPr>
          <a:xfrm xmlns:a="http://schemas.openxmlformats.org/drawingml/2006/main">
            <a:off x="609600" y="1143000"/>
            <a:ext cx="10972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72D37"/>
                </a:solidFill>
                <a:latin typeface="Helvetica Neue"/>
                <a:ea typeface="Helvetica Neue"/>
                <a:cs typeface="Helvetica Neue"/>
              </a:defRPr>
            </a:pPr>
            <a:r>
              <a:rPr sz="4425" b="1">
                <a:solidFill>
                  <a:srgbClr val="172D37"/>
                </a:solidFill>
                <a:latin typeface="Helvetica Neue"/>
                <a:ea typeface="Helvetica Neue"/>
                <a:cs typeface="Helvetica Neue"/>
              </a:rPr>
              <a:t>Predicting Hit Songs</a:t>
            </a:r>
          </a:p>
          <a:p xmlns:a="http://schemas.openxmlformats.org/drawingml/2006/main">
            <a:pPr>
              <a:defRPr sz="4425" b="1">
                <a:solidFill>
                  <a:srgbClr val="172D37"/>
                </a:solidFill>
                <a:latin typeface="Helvetica Neue"/>
                <a:ea typeface="Helvetica Neue"/>
                <a:cs typeface="Helvetica Neue"/>
              </a:defRPr>
            </a:pPr>
            <a:r>
              <a:rPr sz="4425" b="1">
                <a:solidFill>
                  <a:srgbClr val="172D37"/>
                </a:solidFill>
                <a:latin typeface="Helvetica Neue"/>
                <a:ea typeface="Helvetica Neue"/>
                <a:cs typeface="Helvetica Neue"/>
              </a:rPr>
              <a:t>Using Repeated Chorus</a:t>
            </a:r>
          </a:p>
        </p:txBody>
      </p:sp>
      <p:sp>
        <p:nvSpPr>
          <p:cNvPr id="3" name="">
            <a:extLst xmlns:a="http://schemas.openxmlformats.org/drawingml/2006/main">
              <a:ext uri="{FF2B5EF4-FFF2-40B4-BE49-F238E27FC236}">
                <a16:creationId xmlns:a16="http://schemas.microsoft.com/office/drawing/2014/main" id="{A9617AEE-AD5D-45BC-9FD6-FAABECCEDB7D}"/>
              </a:ext>
            </a:extLst>
          </p:cNvPr>
          <p:cNvSpPr>
            <a:spLocks xmlns:a="http://schemas.openxmlformats.org/drawingml/2006/main" noGrp="1"/>
          </p:cNvSpPr>
          <p:nvPr/>
        </p:nvSpPr>
        <p:spPr>
          <a:xfrm xmlns:a="http://schemas.openxmlformats.org/drawingml/2006/main">
            <a:off x="647700" y="32385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7C80"/>
                </a:solidFill>
                <a:latin typeface="Helvetica Neue"/>
                <a:ea typeface="Helvetica Neue"/>
                <a:cs typeface="Helvetica Neue"/>
              </a:defRPr>
            </a:pPr>
            <a:r>
              <a:rPr sz="2550" b="0">
                <a:solidFill>
                  <a:srgbClr val="127C80"/>
                </a:solidFill>
                <a:latin typeface="Helvetica Neue"/>
                <a:ea typeface="Helvetica Neue"/>
                <a:cs typeface="Helvetica Neue"/>
              </a:rPr>
              <a:t>Audit and controlled experiments</a:t>
            </a:r>
          </a:p>
        </p:txBody>
      </p:sp>
      <p:sp>
        <p:nvSpPr>
          <p:cNvPr id="4" name="">
            <a:extLst xmlns:a="http://schemas.openxmlformats.org/drawingml/2006/main">
              <a:ext uri="{FF2B5EF4-FFF2-40B4-BE49-F238E27FC236}">
                <a16:creationId xmlns:a16="http://schemas.microsoft.com/office/drawing/2014/main" id="{5A0EAEC0-C657-4CC2-85D3-7E96E07A4777}"/>
              </a:ext>
            </a:extLst>
          </p:cNvPr>
          <p:cNvSpPr>
            <a:spLocks xmlns:a="http://schemas.openxmlformats.org/drawingml/2006/main" noGrp="1"/>
          </p:cNvSpPr>
          <p:nvPr/>
        </p:nvSpPr>
        <p:spPr>
          <a:xfrm xmlns:a="http://schemas.openxmlformats.org/drawingml/2006/main">
            <a:off x="647700" y="4362450"/>
            <a:ext cx="1038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Dhanush Sai Suprapadha   PES2UG24CS154</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Deepthi V   PES2UG24CS150</a:t>
            </a:r>
          </a:p>
        </p:txBody>
      </p:sp>
      <p:sp>
        <p:nvSpPr>
          <p:cNvPr id="5" name="">
            <a:extLst xmlns:a="http://schemas.openxmlformats.org/drawingml/2006/main">
              <a:ext uri="{FF2B5EF4-FFF2-40B4-BE49-F238E27FC236}">
                <a16:creationId xmlns:a16="http://schemas.microsoft.com/office/drawing/2014/main" id="{A1347F6B-D4FC-4044-9A85-929DC86A661C}"/>
              </a:ext>
            </a:extLst>
          </p:cNvPr>
          <p:cNvSpPr>
            <a:spLocks xmlns:a="http://schemas.openxmlformats.org/drawingml/2006/main" noGrp="1"/>
          </p:cNvSpPr>
          <p:nvPr/>
        </p:nvSpPr>
        <p:spPr>
          <a:xfrm xmlns:a="http://schemas.openxmlformats.org/drawingml/2006/main">
            <a:off x="647700" y="56197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66E"/>
                </a:solidFill>
                <a:latin typeface="Helvetica Neue"/>
                <a:ea typeface="Helvetica Neue"/>
                <a:cs typeface="Helvetica Neue"/>
              </a:defRPr>
            </a:pPr>
            <a:r>
              <a:rPr sz="1725" b="0">
                <a:solidFill>
                  <a:srgbClr val="52666E"/>
                </a:solidFill>
                <a:latin typeface="Helvetica Neue"/>
                <a:ea typeface="Helvetica Neue"/>
                <a:cs typeface="Helvetica Neue"/>
              </a:rPr>
              <a:t>UE24CS352A   Machine Learning   October 2026</a:t>
            </a:r>
          </a:p>
        </p:txBody>
      </p:sp>
    </p:spTree>
    <p:extLst>
      <p:ext uri="{BB962C8B-B14F-4D97-AF65-F5344CB8AC3E}">
        <p14:creationId xmlns:p14="http://schemas.microsoft.com/office/powerpoint/2010/main" val="4946514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9E6AD3-8171-495E-B2E9-A181B3164D64}"/>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7"/>
                </a:solidFill>
                <a:latin typeface="Helvetica Neue"/>
                <a:ea typeface="Helvetica Neue"/>
                <a:cs typeface="Helvetica Neue"/>
              </a:defRPr>
            </a:pPr>
            <a:r>
              <a:rPr sz="3225" b="1">
                <a:solidFill>
                  <a:srgbClr val="172D37"/>
                </a:solidFill>
                <a:latin typeface="Helvetica Neue"/>
                <a:ea typeface="Helvetica Neue"/>
                <a:cs typeface="Helvetica Neue"/>
              </a:rPr>
              <a:t>Research task and available data</a:t>
            </a:r>
          </a:p>
        </p:txBody>
      </p:sp>
      <p:sp>
        <p:nvSpPr>
          <p:cNvPr id="2" name="">
            <a:extLst xmlns:a="http://schemas.openxmlformats.org/drawingml/2006/main">
              <a:ext uri="{FF2B5EF4-FFF2-40B4-BE49-F238E27FC236}">
                <a16:creationId xmlns:a16="http://schemas.microsoft.com/office/drawing/2014/main" id="{32B808A1-9531-41C1-AD35-7D165CE0C3D1}"/>
              </a:ext>
            </a:extLst>
          </p:cNvPr>
          <p:cNvSpPr>
            <a:spLocks xmlns:a="http://schemas.openxmlformats.org/drawingml/2006/main" noGrp="1"/>
          </p:cNvSpPr>
          <p:nvPr/>
        </p:nvSpPr>
        <p:spPr>
          <a:xfrm xmlns:a="http://schemas.openxmlformats.org/drawingml/2006/main">
            <a:off x="11144250" y="6362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C9F3B508-5CC4-4F98-A366-EC63C0441C5D}"/>
              </a:ext>
            </a:extLst>
          </p:cNvPr>
          <p:cNvSpPr>
            <a:spLocks xmlns:a="http://schemas.openxmlformats.org/drawingml/2006/main" noGrp="1"/>
          </p:cNvSpPr>
          <p:nvPr/>
        </p:nvSpPr>
        <p:spPr>
          <a:xfrm xmlns:a="http://schemas.openxmlformats.org/drawingml/2006/main">
            <a:off x="609600" y="14859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7C80"/>
                </a:solidFill>
                <a:latin typeface="Helvetica Neue"/>
                <a:ea typeface="Helvetica Neue"/>
                <a:cs typeface="Helvetica Neue"/>
              </a:defRPr>
            </a:pPr>
            <a:r>
              <a:rPr sz="2625" b="1">
                <a:solidFill>
                  <a:srgbClr val="127C80"/>
                </a:solidFill>
                <a:latin typeface="Helvetica Neue"/>
                <a:ea typeface="Helvetica Neue"/>
                <a:cs typeface="Helvetica Neue"/>
              </a:rPr>
              <a:t>Can 15-second chorus features distinguish</a:t>
            </a:r>
          </a:p>
          <a:p xmlns:a="http://schemas.openxmlformats.org/drawingml/2006/main">
            <a:pPr>
              <a:defRPr sz="2625" b="1">
                <a:solidFill>
                  <a:srgbClr val="127C80"/>
                </a:solidFill>
                <a:latin typeface="Helvetica Neue"/>
                <a:ea typeface="Helvetica Neue"/>
                <a:cs typeface="Helvetica Neue"/>
              </a:defRPr>
            </a:pPr>
            <a:r>
              <a:rPr sz="2625" b="1">
                <a:solidFill>
                  <a:srgbClr val="127C80"/>
                </a:solidFill>
                <a:latin typeface="Helvetica Neue"/>
                <a:ea typeface="Helvetica Neue"/>
                <a:cs typeface="Helvetica Neue"/>
              </a:rPr>
              <a:t>a year-end hit from another chart song?</a:t>
            </a:r>
          </a:p>
        </p:txBody>
      </p:sp>
      <p:graphicFrame>
        <p:nvGraphicFramePr>
          <p:cNvPr id="9" name=""/>
          <p:cNvGraphicFramePr/>
          <p:nvPr/>
        </p:nvGraphicFramePr>
        <p:xfrm>
          <a:off xmlns:a="http://schemas.openxmlformats.org/drawingml/2006/main" x="609600" y="2905125"/>
          <a:ext xmlns:a="http://schemas.openxmlformats.org/drawingml/2006/main" cx="10972800" cy="2324100"/>
        </p:xfrm>
        <a:graphic xmlns:a="http://schemas.openxmlformats.org/drawingml/2006/main">
          <a:graphicData uri="http://schemas.openxmlformats.org/drawingml/2006/table">
            <a:tbl>
              <a:tblPr/>
              <a:tblGrid>
                <a:gridCol w="7810500"/>
                <a:gridCol w="3162300"/>
              </a:tblGrid>
              <a:tr h="581025">
                <a:tc>
                  <a:txBody>
                    <a:bodyPr/>
                    <a:lstStyle/>
                    <a:p>
                      <a:r>
                        <a:rPr sz="1875" b="1">
                          <a:solidFill>
                            <a:srgbClr val="172D37"/>
                          </a:solidFill>
                          <a:latin typeface="Helvetica Neue"/>
                          <a:ea typeface="Helvetica Neue"/>
                          <a:cs typeface="Helvetica Neue"/>
                        </a:rPr>
                        <a:t>Available data</a:t>
                      </a:r>
                    </a:p>
                  </a:txBody>
                  <a:tcPr marL="114300" marR="95250" marT="76200" marB="76200">
                    <a:solidFill>
                      <a:srgbClr val="EFF5F5"/>
                    </a:solidFill>
                  </a:tcPr>
                </a:tc>
                <a:tc>
                  <a:txBody>
                    <a:bodyPr/>
                    <a:lstStyle/>
                    <a:p>
                      <a:r>
                        <a:rPr sz="1875" b="1">
                          <a:solidFill>
                            <a:srgbClr val="172D37"/>
                          </a:solidFill>
                          <a:latin typeface="Helvetica Neue"/>
                          <a:ea typeface="Helvetica Neue"/>
                          <a:cs typeface="Helvetica Neue"/>
                        </a:rPr>
                        <a:t>Count</a:t>
                      </a:r>
                    </a:p>
                  </a:txBody>
                  <a:tcPr marL="114300" marR="95250" marT="76200" marB="76200">
                    <a:solidFill>
                      <a:srgbClr val="EFF5F5"/>
                    </a:solidFill>
                  </a:tcPr>
                </a:tc>
              </a:tr>
              <a:tr h="581025">
                <a:tc>
                  <a:txBody>
                    <a:bodyPr/>
                    <a:lstStyle/>
                    <a:p>
                      <a:r>
                        <a:rPr sz="1875">
                          <a:solidFill>
                            <a:srgbClr val="172D37"/>
                          </a:solidFill>
                          <a:latin typeface="Helvetica Neue"/>
                          <a:ea typeface="Helvetica Neue"/>
                          <a:cs typeface="Helvetica Neue"/>
                        </a:rPr>
                        <a:t>Songs / artist-name groups</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751 / 71</a:t>
                      </a:r>
                    </a:p>
                  </a:txBody>
                  <a:tcPr marL="114300" marR="95250" marT="76200" marB="76200">
                    <a:solidFill>
                      <a:srgbClr val="FFFFFF"/>
                    </a:solidFill>
                  </a:tcPr>
                </a:tc>
              </a:tr>
              <a:tr h="581025">
                <a:tc>
                  <a:txBody>
                    <a:bodyPr/>
                    <a:lstStyle/>
                    <a:p>
                      <a:r>
                        <a:rPr sz="1875">
                          <a:solidFill>
                            <a:srgbClr val="172D37"/>
                          </a:solidFill>
                          <a:latin typeface="Helvetica Neue"/>
                          <a:ea typeface="Helvetica Neue"/>
                          <a:cs typeface="Helvetica Neue"/>
                        </a:rPr>
                        <a:t>Raw audio measurements</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518</a:t>
                      </a:r>
                    </a:p>
                  </a:txBody>
                  <a:tcPr marL="114300" marR="95250" marT="76200" marB="76200">
                    <a:solidFill>
                      <a:srgbClr val="FFFFFF"/>
                    </a:solidFill>
                  </a:tcPr>
                </a:tc>
              </a:tr>
              <a:tr h="581025">
                <a:tc>
                  <a:txBody>
                    <a:bodyPr/>
                    <a:lstStyle/>
                    <a:p>
                      <a:r>
                        <a:rPr sz="1875">
                          <a:solidFill>
                            <a:srgbClr val="172D37"/>
                          </a:solidFill>
                          <a:latin typeface="Helvetica Neue"/>
                          <a:ea typeface="Helvetica Neue"/>
                          <a:cs typeface="Helvetica Neue"/>
                        </a:rPr>
                        <a:t>Year-end hits / other chart songs</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366 / 385</a:t>
                      </a:r>
                    </a:p>
                  </a:txBody>
                  <a:tcPr marL="114300" marR="95250" marT="76200" marB="762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4579096-3236-462E-8A3C-E4302DBA28C0}"/>
              </a:ext>
            </a:extLst>
          </p:cNvPr>
          <p:cNvSpPr>
            <a:spLocks xmlns:a="http://schemas.openxmlformats.org/drawingml/2006/main" noGrp="1"/>
          </p:cNvSpPr>
          <p:nvPr/>
        </p:nvSpPr>
        <p:spPr>
          <a:xfrm xmlns:a="http://schemas.openxmlformats.org/drawingml/2006/main">
            <a:off x="609600" y="568642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66E"/>
                </a:solidFill>
                <a:latin typeface="Helvetica Neue"/>
                <a:ea typeface="Helvetica Neue"/>
                <a:cs typeface="Helvetica Neue"/>
              </a:defRPr>
            </a:pPr>
            <a:r>
              <a:rPr sz="1950" b="0">
                <a:solidFill>
                  <a:srgbClr val="52666E"/>
                </a:solidFill>
                <a:latin typeface="Helvetica Neue"/>
                <a:ea typeface="Helvetica Neue"/>
                <a:cs typeface="Helvetica Neue"/>
              </a:rPr>
              <a:t>Both classes contain charting songs. Original recordings are unavailable.</a:t>
            </a:r>
          </a:p>
        </p:txBody>
      </p:sp>
    </p:spTree>
    <p:extLst>
      <p:ext uri="{BB962C8B-B14F-4D97-AF65-F5344CB8AC3E}">
        <p14:creationId xmlns:p14="http://schemas.microsoft.com/office/powerpoint/2010/main" val="12499676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BD4F9C-2C78-4B6B-92DC-B4777A5058FC}"/>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7"/>
                </a:solidFill>
                <a:latin typeface="Helvetica Neue"/>
                <a:ea typeface="Helvetica Neue"/>
                <a:cs typeface="Helvetica Neue"/>
              </a:defRPr>
            </a:pPr>
            <a:r>
              <a:rPr sz="3225" b="1">
                <a:solidFill>
                  <a:srgbClr val="172D37"/>
                </a:solidFill>
                <a:latin typeface="Helvetica Neue"/>
                <a:ea typeface="Helvetica Neue"/>
                <a:cs typeface="Helvetica Neue"/>
              </a:rPr>
              <a:t>Audit results and engineering repairs</a:t>
            </a:r>
          </a:p>
        </p:txBody>
      </p:sp>
      <p:sp>
        <p:nvSpPr>
          <p:cNvPr id="2" name="">
            <a:extLst xmlns:a="http://schemas.openxmlformats.org/drawingml/2006/main">
              <a:ext uri="{FF2B5EF4-FFF2-40B4-BE49-F238E27FC236}">
                <a16:creationId xmlns:a16="http://schemas.microsoft.com/office/drawing/2014/main" id="{B3DDF34E-C8F9-4BC4-B6F1-5ED7D5E5433C}"/>
              </a:ext>
            </a:extLst>
          </p:cNvPr>
          <p:cNvSpPr>
            <a:spLocks xmlns:a="http://schemas.openxmlformats.org/drawingml/2006/main" noGrp="1"/>
          </p:cNvSpPr>
          <p:nvPr/>
        </p:nvSpPr>
        <p:spPr>
          <a:xfrm xmlns:a="http://schemas.openxmlformats.org/drawingml/2006/main">
            <a:off x="11144250" y="6362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3</a:t>
            </a:r>
          </a:p>
        </p:txBody>
      </p:sp>
      <p:sp>
        <p:nvSpPr>
          <p:cNvPr id="3" name="">
            <a:extLst xmlns:a="http://schemas.openxmlformats.org/drawingml/2006/main">
              <a:ext uri="{FF2B5EF4-FFF2-40B4-BE49-F238E27FC236}">
                <a16:creationId xmlns:a16="http://schemas.microsoft.com/office/drawing/2014/main" id="{761C54D7-5D11-47B6-B3DD-E5E990C63655}"/>
              </a:ext>
            </a:extLst>
          </p:cNvPr>
          <p:cNvSpPr>
            <a:spLocks xmlns:a="http://schemas.openxmlformats.org/drawingml/2006/main" noGrp="1"/>
          </p:cNvSpPr>
          <p:nvPr/>
        </p:nvSpPr>
        <p:spPr>
          <a:xfrm xmlns:a="http://schemas.openxmlformats.org/drawingml/2006/main">
            <a:off x="609600" y="15335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27C80"/>
                </a:solidFill>
                <a:latin typeface="Helvetica Neue"/>
                <a:ea typeface="Helvetica Neue"/>
                <a:cs typeface="Helvetica Neue"/>
              </a:defRPr>
            </a:pPr>
            <a:r>
              <a:rPr sz="2700" b="1">
                <a:solidFill>
                  <a:srgbClr val="127C80"/>
                </a:solidFill>
                <a:latin typeface="Helvetica Neue"/>
                <a:ea typeface="Helvetica Neue"/>
                <a:cs typeface="Helvetica Neue"/>
              </a:rPr>
              <a:t>The original results reproduced exactly</a:t>
            </a:r>
          </a:p>
        </p:txBody>
      </p:sp>
      <p:sp>
        <p:nvSpPr>
          <p:cNvPr id="4" name="">
            <a:extLst xmlns:a="http://schemas.openxmlformats.org/drawingml/2006/main">
              <a:ext uri="{FF2B5EF4-FFF2-40B4-BE49-F238E27FC236}">
                <a16:creationId xmlns:a16="http://schemas.microsoft.com/office/drawing/2014/main" id="{E7A0B501-F2BF-4DAD-9851-8DD44CA9C34B}"/>
              </a:ext>
            </a:extLst>
          </p:cNvPr>
          <p:cNvSpPr>
            <a:spLocks xmlns:a="http://schemas.openxmlformats.org/drawingml/2006/main" noGrp="1"/>
          </p:cNvSpPr>
          <p:nvPr/>
        </p:nvSpPr>
        <p:spPr>
          <a:xfrm xmlns:a="http://schemas.openxmlformats.org/drawingml/2006/main">
            <a:off x="609600" y="22860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7"/>
                </a:solidFill>
                <a:latin typeface="Helvetica Neue"/>
                <a:ea typeface="Helvetica Neue"/>
                <a:cs typeface="Helvetica Neue"/>
              </a:defRPr>
            </a:pPr>
            <a:r>
              <a:rPr sz="2175" b="0">
                <a:solidFill>
                  <a:srgbClr val="172D37"/>
                </a:solidFill>
                <a:latin typeface="Helvetica Neue"/>
                <a:ea typeface="Helvetica Neue"/>
                <a:cs typeface="Helvetica Neue"/>
              </a:rPr>
              <a:t>All nine models matched their recorded scores.</a:t>
            </a:r>
          </a:p>
          <a:p xmlns:a="http://schemas.openxmlformats.org/drawingml/2006/main">
            <a:pPr>
              <a:defRPr sz="2175" b="0">
                <a:solidFill>
                  <a:srgbClr val="172D37"/>
                </a:solidFill>
                <a:latin typeface="Helvetica Neue"/>
                <a:ea typeface="Helvetica Neue"/>
                <a:cs typeface="Helvetica Neue"/>
              </a:defRPr>
            </a:pPr>
            <a:r>
              <a:rPr sz="2175" b="0">
                <a:solidFill>
                  <a:srgbClr val="172D37"/>
                </a:solidFill>
                <a:latin typeface="Helvetica Neue"/>
                <a:ea typeface="Helvetica Neue"/>
                <a:cs typeface="Helvetica Neue"/>
              </a:rPr>
              <a:t>All 154 historical predictions matched.</a:t>
            </a:r>
          </a:p>
        </p:txBody>
      </p:sp>
      <p:sp>
        <p:nvSpPr>
          <p:cNvPr id="5" name="">
            <a:extLst xmlns:a="http://schemas.openxmlformats.org/drawingml/2006/main">
              <a:ext uri="{FF2B5EF4-FFF2-40B4-BE49-F238E27FC236}">
                <a16:creationId xmlns:a16="http://schemas.microsoft.com/office/drawing/2014/main" id="{FD54B650-3907-4AE8-B305-0D0FDAC282DC}"/>
              </a:ext>
            </a:extLst>
          </p:cNvPr>
          <p:cNvSpPr>
            <a:spLocks xmlns:a="http://schemas.openxmlformats.org/drawingml/2006/main" noGrp="1"/>
          </p:cNvSpPr>
          <p:nvPr/>
        </p:nvSpPr>
        <p:spPr>
          <a:xfrm xmlns:a="http://schemas.openxmlformats.org/drawingml/2006/main">
            <a:off x="609600" y="38004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2D37"/>
                </a:solidFill>
                <a:latin typeface="Helvetica Neue"/>
                <a:ea typeface="Helvetica Neue"/>
                <a:cs typeface="Helvetica Neue"/>
              </a:defRPr>
            </a:pPr>
            <a:r>
              <a:rPr sz="2550" b="1">
                <a:solidFill>
                  <a:srgbClr val="172D37"/>
                </a:solidFill>
                <a:latin typeface="Helvetica Neue"/>
                <a:ea typeface="Helvetica Neue"/>
                <a:cs typeface="Helvetica Neue"/>
              </a:rPr>
              <a:t>Safer experiments and consistent outputs</a:t>
            </a:r>
          </a:p>
        </p:txBody>
      </p:sp>
      <p:sp>
        <p:nvSpPr>
          <p:cNvPr id="6" name="">
            <a:extLst xmlns:a="http://schemas.openxmlformats.org/drawingml/2006/main">
              <a:ext uri="{FF2B5EF4-FFF2-40B4-BE49-F238E27FC236}">
                <a16:creationId xmlns:a16="http://schemas.microsoft.com/office/drawing/2014/main" id="{64F8DD6E-B61A-45C3-A69F-BFBE9F95189A}"/>
              </a:ext>
            </a:extLst>
          </p:cNvPr>
          <p:cNvSpPr>
            <a:spLocks xmlns:a="http://schemas.openxmlformats.org/drawingml/2006/main" noGrp="1"/>
          </p:cNvSpPr>
          <p:nvPr/>
        </p:nvSpPr>
        <p:spPr>
          <a:xfrm xmlns:a="http://schemas.openxmlformats.org/drawingml/2006/main">
            <a:off x="609600" y="4572000"/>
            <a:ext cx="10763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Actual-file hashes and explicit source provenance</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Separate immutable runs with retained trial records</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One validated model contract for the app, CLI and reports</a:t>
            </a:r>
          </a:p>
        </p:txBody>
      </p:sp>
    </p:spTree>
    <p:extLst>
      <p:ext uri="{BB962C8B-B14F-4D97-AF65-F5344CB8AC3E}">
        <p14:creationId xmlns:p14="http://schemas.microsoft.com/office/powerpoint/2010/main" val="18995945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DDA46A-9847-45A3-BB58-E24F63E48BEB}"/>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7"/>
                </a:solidFill>
                <a:latin typeface="Helvetica Neue"/>
                <a:ea typeface="Helvetica Neue"/>
                <a:cs typeface="Helvetica Neue"/>
              </a:defRPr>
            </a:pPr>
            <a:r>
              <a:rPr sz="3225" b="1">
                <a:solidFill>
                  <a:srgbClr val="172D37"/>
                </a:solidFill>
                <a:latin typeface="Helvetica Neue"/>
                <a:ea typeface="Helvetica Neue"/>
                <a:cs typeface="Helvetica Neue"/>
              </a:rPr>
              <a:t>Development and historical evaluation</a:t>
            </a:r>
          </a:p>
        </p:txBody>
      </p:sp>
      <p:sp>
        <p:nvSpPr>
          <p:cNvPr id="2" name="">
            <a:extLst xmlns:a="http://schemas.openxmlformats.org/drawingml/2006/main">
              <a:ext uri="{FF2B5EF4-FFF2-40B4-BE49-F238E27FC236}">
                <a16:creationId xmlns:a16="http://schemas.microsoft.com/office/drawing/2014/main" id="{01C904B4-E344-46E5-9627-A600F44574D3}"/>
              </a:ext>
            </a:extLst>
          </p:cNvPr>
          <p:cNvSpPr>
            <a:spLocks xmlns:a="http://schemas.openxmlformats.org/drawingml/2006/main" noGrp="1"/>
          </p:cNvSpPr>
          <p:nvPr/>
        </p:nvSpPr>
        <p:spPr>
          <a:xfrm xmlns:a="http://schemas.openxmlformats.org/drawingml/2006/main">
            <a:off x="11144250" y="6362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4</a:t>
            </a:r>
          </a:p>
        </p:txBody>
      </p:sp>
      <p:graphicFrame>
        <p:nvGraphicFramePr>
          <p:cNvPr id="8" name=""/>
          <p:cNvGraphicFramePr/>
          <p:nvPr/>
        </p:nvGraphicFramePr>
        <p:xfrm>
          <a:off xmlns:a="http://schemas.openxmlformats.org/drawingml/2006/main" x="609600" y="1466850"/>
          <a:ext xmlns:a="http://schemas.openxmlformats.org/drawingml/2006/main" cx="10972800" cy="1885950"/>
        </p:xfrm>
        <a:graphic xmlns:a="http://schemas.openxmlformats.org/drawingml/2006/main">
          <a:graphicData uri="http://schemas.openxmlformats.org/drawingml/2006/table">
            <a:tbl>
              <a:tblPr/>
              <a:tblGrid>
                <a:gridCol w="6858000"/>
                <a:gridCol w="2057400"/>
                <a:gridCol w="2057400"/>
              </a:tblGrid>
              <a:tr h="628650">
                <a:tc>
                  <a:txBody>
                    <a:bodyPr/>
                    <a:lstStyle/>
                    <a:p>
                      <a:r>
                        <a:rPr sz="1875" b="1">
                          <a:solidFill>
                            <a:srgbClr val="172D37"/>
                          </a:solidFill>
                          <a:latin typeface="Helvetica Neue"/>
                          <a:ea typeface="Helvetica Neue"/>
                          <a:cs typeface="Helvetica Neue"/>
                        </a:rPr>
                        <a:t>Partition</a:t>
                      </a:r>
                    </a:p>
                  </a:txBody>
                  <a:tcPr marL="114300" marR="95250" marT="76200" marB="76200">
                    <a:solidFill>
                      <a:srgbClr val="EFF5F5"/>
                    </a:solidFill>
                  </a:tcPr>
                </a:tc>
                <a:tc>
                  <a:txBody>
                    <a:bodyPr/>
                    <a:lstStyle/>
                    <a:p>
                      <a:r>
                        <a:rPr sz="1875" b="1">
                          <a:solidFill>
                            <a:srgbClr val="172D37"/>
                          </a:solidFill>
                          <a:latin typeface="Helvetica Neue"/>
                          <a:ea typeface="Helvetica Neue"/>
                          <a:cs typeface="Helvetica Neue"/>
                        </a:rPr>
                        <a:t>Songs</a:t>
                      </a:r>
                    </a:p>
                  </a:txBody>
                  <a:tcPr marL="114300" marR="95250" marT="76200" marB="76200">
                    <a:solidFill>
                      <a:srgbClr val="EFF5F5"/>
                    </a:solidFill>
                  </a:tcPr>
                </a:tc>
                <a:tc>
                  <a:txBody>
                    <a:bodyPr/>
                    <a:lstStyle/>
                    <a:p>
                      <a:r>
                        <a:rPr sz="1875" b="1">
                          <a:solidFill>
                            <a:srgbClr val="172D37"/>
                          </a:solidFill>
                          <a:latin typeface="Helvetica Neue"/>
                          <a:ea typeface="Helvetica Neue"/>
                          <a:cs typeface="Helvetica Neue"/>
                        </a:rPr>
                        <a:t>Groups</a:t>
                      </a:r>
                    </a:p>
                  </a:txBody>
                  <a:tcPr marL="114300" marR="95250" marT="76200" marB="76200">
                    <a:solidFill>
                      <a:srgbClr val="EFF5F5"/>
                    </a:solidFill>
                  </a:tcPr>
                </a:tc>
              </a:tr>
              <a:tr h="628650">
                <a:tc>
                  <a:txBody>
                    <a:bodyPr/>
                    <a:lstStyle/>
                    <a:p>
                      <a:r>
                        <a:rPr sz="1875">
                          <a:solidFill>
                            <a:srgbClr val="172D37"/>
                          </a:solidFill>
                          <a:latin typeface="Helvetica Neue"/>
                          <a:ea typeface="Helvetica Neue"/>
                          <a:cs typeface="Helvetica Neue"/>
                        </a:rPr>
                        <a:t>Development</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597</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52</a:t>
                      </a:r>
                    </a:p>
                  </a:txBody>
                  <a:tcPr marL="114300" marR="95250" marT="76200" marB="76200">
                    <a:solidFill>
                      <a:srgbClr val="FFFFFF"/>
                    </a:solidFill>
                  </a:tcPr>
                </a:tc>
              </a:tr>
              <a:tr h="628650">
                <a:tc>
                  <a:txBody>
                    <a:bodyPr/>
                    <a:lstStyle/>
                    <a:p>
                      <a:r>
                        <a:rPr sz="1875">
                          <a:solidFill>
                            <a:srgbClr val="172D37"/>
                          </a:solidFill>
                          <a:latin typeface="Helvetica Neue"/>
                          <a:ea typeface="Helvetica Neue"/>
                          <a:cs typeface="Helvetica Neue"/>
                        </a:rPr>
                        <a:t>Historical benchmark</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154</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19</a:t>
                      </a:r>
                    </a:p>
                  </a:txBody>
                  <a:tcPr marL="114300" marR="95250"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6EC0039-07DE-46C4-B480-0E5D89352D53}"/>
              </a:ext>
            </a:extLst>
          </p:cNvPr>
          <p:cNvSpPr>
            <a:spLocks xmlns:a="http://schemas.openxmlformats.org/drawingml/2006/main" noGrp="1"/>
          </p:cNvSpPr>
          <p:nvPr/>
        </p:nvSpPr>
        <p:spPr>
          <a:xfrm xmlns:a="http://schemas.openxmlformats.org/drawingml/2006/main">
            <a:off x="609600" y="37719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7C80"/>
                </a:solidFill>
                <a:latin typeface="Helvetica Neue"/>
                <a:ea typeface="Helvetica Neue"/>
                <a:cs typeface="Helvetica Neue"/>
              </a:defRPr>
            </a:pPr>
            <a:r>
              <a:rPr sz="2550" b="1">
                <a:solidFill>
                  <a:srgbClr val="127C80"/>
                </a:solidFill>
                <a:latin typeface="Helvetica Neue"/>
                <a:ea typeface="Helvetica Neue"/>
                <a:cs typeface="Helvetica Neue"/>
              </a:rPr>
              <a:t>Five outer folds assess the selection procedure</a:t>
            </a:r>
          </a:p>
        </p:txBody>
      </p:sp>
      <p:sp>
        <p:nvSpPr>
          <p:cNvPr id="5" name="">
            <a:extLst xmlns:a="http://schemas.openxmlformats.org/drawingml/2006/main">
              <a:ext uri="{FF2B5EF4-FFF2-40B4-BE49-F238E27FC236}">
                <a16:creationId xmlns:a16="http://schemas.microsoft.com/office/drawing/2014/main" id="{2E5CB3BE-553D-4587-847E-83C44F904A25}"/>
              </a:ext>
            </a:extLst>
          </p:cNvPr>
          <p:cNvSpPr>
            <a:spLocks xmlns:a="http://schemas.openxmlformats.org/drawingml/2006/main" noGrp="1"/>
          </p:cNvSpPr>
          <p:nvPr/>
        </p:nvSpPr>
        <p:spPr>
          <a:xfrm xmlns:a="http://schemas.openxmlformats.org/drawingml/2006/main">
            <a:off x="609600" y="4552950"/>
            <a:ext cx="10858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Each outer training set uses three inner folds to choose a model.</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Preprocessing learns only from its fitting rows.</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The final candidate then fits all development songs.</a:t>
            </a:r>
          </a:p>
        </p:txBody>
      </p:sp>
    </p:spTree>
    <p:extLst>
      <p:ext uri="{BB962C8B-B14F-4D97-AF65-F5344CB8AC3E}">
        <p14:creationId xmlns:p14="http://schemas.microsoft.com/office/powerpoint/2010/main" val="14536347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F6A483-043A-4491-AAB1-9A96D1486211}"/>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7"/>
                </a:solidFill>
                <a:latin typeface="Helvetica Neue"/>
                <a:ea typeface="Helvetica Neue"/>
                <a:cs typeface="Helvetica Neue"/>
              </a:defRPr>
            </a:pPr>
            <a:r>
              <a:rPr sz="3225" b="1">
                <a:solidFill>
                  <a:srgbClr val="172D37"/>
                </a:solidFill>
                <a:latin typeface="Helvetica Neue"/>
                <a:ea typeface="Helvetica Neue"/>
                <a:cs typeface="Helvetica Neue"/>
              </a:rPr>
              <a:t>The predeclared candidate search</a:t>
            </a:r>
          </a:p>
        </p:txBody>
      </p:sp>
      <p:sp>
        <p:nvSpPr>
          <p:cNvPr id="2" name="">
            <a:extLst xmlns:a="http://schemas.openxmlformats.org/drawingml/2006/main">
              <a:ext uri="{FF2B5EF4-FFF2-40B4-BE49-F238E27FC236}">
                <a16:creationId xmlns:a16="http://schemas.microsoft.com/office/drawing/2014/main" id="{20C324AA-DA93-4DBD-BAA8-836BC3F1D037}"/>
              </a:ext>
            </a:extLst>
          </p:cNvPr>
          <p:cNvSpPr>
            <a:spLocks xmlns:a="http://schemas.openxmlformats.org/drawingml/2006/main" noGrp="1"/>
          </p:cNvSpPr>
          <p:nvPr/>
        </p:nvSpPr>
        <p:spPr>
          <a:xfrm xmlns:a="http://schemas.openxmlformats.org/drawingml/2006/main">
            <a:off x="11144250" y="6362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5</a:t>
            </a:r>
          </a:p>
        </p:txBody>
      </p:sp>
      <p:graphicFrame>
        <p:nvGraphicFramePr>
          <p:cNvPr id="8" name=""/>
          <p:cNvGraphicFramePr/>
          <p:nvPr/>
        </p:nvGraphicFramePr>
        <p:xfrm>
          <a:off xmlns:a="http://schemas.openxmlformats.org/drawingml/2006/main" x="609600" y="1495425"/>
          <a:ext xmlns:a="http://schemas.openxmlformats.org/drawingml/2006/main" cx="10972800" cy="2924175"/>
        </p:xfrm>
        <a:graphic xmlns:a="http://schemas.openxmlformats.org/drawingml/2006/main">
          <a:graphicData uri="http://schemas.openxmlformats.org/drawingml/2006/table">
            <a:tbl>
              <a:tblPr/>
              <a:tblGrid>
                <a:gridCol w="3762375"/>
                <a:gridCol w="7210425"/>
              </a:tblGrid>
              <a:tr h="584835">
                <a:tc>
                  <a:txBody>
                    <a:bodyPr/>
                    <a:lstStyle/>
                    <a:p>
                      <a:r>
                        <a:rPr sz="1875" b="1">
                          <a:solidFill>
                            <a:srgbClr val="172D37"/>
                          </a:solidFill>
                          <a:latin typeface="Helvetica Neue"/>
                          <a:ea typeface="Helvetica Neue"/>
                          <a:cs typeface="Helvetica Neue"/>
                        </a:rPr>
                        <a:t>Representation</a:t>
                      </a:r>
                    </a:p>
                  </a:txBody>
                  <a:tcPr marL="114300" marR="95250" marT="76200" marB="76200">
                    <a:solidFill>
                      <a:srgbClr val="EFF5F5"/>
                    </a:solidFill>
                  </a:tcPr>
                </a:tc>
                <a:tc>
                  <a:txBody>
                    <a:bodyPr/>
                    <a:lstStyle/>
                    <a:p>
                      <a:r>
                        <a:rPr sz="1875" b="1">
                          <a:solidFill>
                            <a:srgbClr val="172D37"/>
                          </a:solidFill>
                          <a:latin typeface="Helvetica Neue"/>
                          <a:ea typeface="Helvetica Neue"/>
                          <a:cs typeface="Helvetica Neue"/>
                        </a:rPr>
                        <a:t>Declared alternatives</a:t>
                      </a:r>
                    </a:p>
                  </a:txBody>
                  <a:tcPr marL="114300" marR="95250" marT="76200" marB="76200">
                    <a:solidFill>
                      <a:srgbClr val="EFF5F5"/>
                    </a:solidFill>
                  </a:tcPr>
                </a:tc>
              </a:tr>
              <a:tr h="584835">
                <a:tc>
                  <a:txBody>
                    <a:bodyPr/>
                    <a:lstStyle/>
                    <a:p>
                      <a:r>
                        <a:rPr sz="1875">
                          <a:solidFill>
                            <a:srgbClr val="172D37"/>
                          </a:solidFill>
                          <a:latin typeface="Helvetica Neue"/>
                          <a:ea typeface="Helvetica Neue"/>
                          <a:cs typeface="Helvetica Neue"/>
                        </a:rPr>
                        <a:t>Original feature axes</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No reduction</a:t>
                      </a:r>
                    </a:p>
                  </a:txBody>
                  <a:tcPr marL="114300" marR="95250" marT="76200" marB="76200">
                    <a:solidFill>
                      <a:srgbClr val="FFFFFF"/>
                    </a:solidFill>
                  </a:tcPr>
                </a:tc>
              </a:tr>
              <a:tr h="584835">
                <a:tc>
                  <a:txBody>
                    <a:bodyPr/>
                    <a:lstStyle/>
                    <a:p>
                      <a:r>
                        <a:rPr sz="1875">
                          <a:solidFill>
                            <a:srgbClr val="172D37"/>
                          </a:solidFill>
                          <a:latin typeface="Helvetica Neue"/>
                          <a:ea typeface="Helvetica Neue"/>
                          <a:cs typeface="Helvetica Neue"/>
                        </a:rPr>
                        <a:t>PCA</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30, 50, 100 components; 90%, 95% variance</a:t>
                      </a:r>
                    </a:p>
                  </a:txBody>
                  <a:tcPr marL="114300" marR="95250" marT="76200" marB="76200">
                    <a:solidFill>
                      <a:srgbClr val="FFFFFF"/>
                    </a:solidFill>
                  </a:tcPr>
                </a:tc>
              </a:tr>
              <a:tr h="584835">
                <a:tc>
                  <a:txBody>
                    <a:bodyPr/>
                    <a:lstStyle/>
                    <a:p>
                      <a:r>
                        <a:rPr sz="1875">
                          <a:solidFill>
                            <a:srgbClr val="172D37"/>
                          </a:solidFill>
                          <a:latin typeface="Helvetica Neue"/>
                          <a:ea typeface="Helvetica Neue"/>
                          <a:cs typeface="Helvetica Neue"/>
                        </a:rPr>
                        <a:t>Supervised selection</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ANOVA or seeded mutual information</a:t>
                      </a:r>
                    </a:p>
                  </a:txBody>
                  <a:tcPr marL="114300" marR="95250" marT="76200" marB="76200">
                    <a:solidFill>
                      <a:srgbClr val="FFFFFF"/>
                    </a:solidFill>
                  </a:tcPr>
                </a:tc>
              </a:tr>
              <a:tr h="584835">
                <a:tc>
                  <a:txBody>
                    <a:bodyPr/>
                    <a:lstStyle/>
                    <a:p>
                      <a:r>
                        <a:rPr sz="1875">
                          <a:solidFill>
                            <a:srgbClr val="172D37"/>
                          </a:solidFill>
                          <a:latin typeface="Helvetica Neue"/>
                          <a:ea typeface="Helvetica Neue"/>
                          <a:cs typeface="Helvetica Neue"/>
                        </a:rPr>
                        <a:t>Feature-family subset</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MFCC, energy and spectral features</a:t>
                      </a:r>
                    </a:p>
                  </a:txBody>
                  <a:tcPr marL="114300" marR="95250"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6F523E7-9DA6-4EBC-89DB-0F3463424276}"/>
              </a:ext>
            </a:extLst>
          </p:cNvPr>
          <p:cNvSpPr>
            <a:spLocks xmlns:a="http://schemas.openxmlformats.org/drawingml/2006/main" noGrp="1"/>
          </p:cNvSpPr>
          <p:nvPr/>
        </p:nvSpPr>
        <p:spPr>
          <a:xfrm xmlns:a="http://schemas.openxmlformats.org/drawingml/2006/main">
            <a:off x="609600" y="48577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7C80"/>
                </a:solidFill>
                <a:latin typeface="Helvetica Neue"/>
                <a:ea typeface="Helvetica Neue"/>
                <a:cs typeface="Helvetica Neue"/>
              </a:defRPr>
            </a:pPr>
            <a:r>
              <a:rPr sz="2325" b="1">
                <a:solidFill>
                  <a:srgbClr val="127C80"/>
                </a:solidFill>
                <a:latin typeface="Helvetica Neue"/>
                <a:ea typeface="Helvetica Neue"/>
                <a:cs typeface="Helvetica Neue"/>
              </a:rPr>
              <a:t>35 configurations with fixed seeds and compute budgets</a:t>
            </a:r>
          </a:p>
        </p:txBody>
      </p:sp>
      <p:sp>
        <p:nvSpPr>
          <p:cNvPr id="5" name="">
            <a:extLst xmlns:a="http://schemas.openxmlformats.org/drawingml/2006/main">
              <a:ext uri="{FF2B5EF4-FFF2-40B4-BE49-F238E27FC236}">
                <a16:creationId xmlns:a16="http://schemas.microsoft.com/office/drawing/2014/main" id="{C7270EC2-239E-48A1-BBE5-E7D4A15A5862}"/>
              </a:ext>
            </a:extLst>
          </p:cNvPr>
          <p:cNvSpPr>
            <a:spLocks xmlns:a="http://schemas.openxmlformats.org/drawingml/2006/main" noGrp="1"/>
          </p:cNvSpPr>
          <p:nvPr/>
        </p:nvSpPr>
        <p:spPr>
          <a:xfrm xmlns:a="http://schemas.openxmlformats.org/drawingml/2006/main">
            <a:off x="609600" y="5591175"/>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66E"/>
                </a:solidFill>
                <a:latin typeface="Helvetica Neue"/>
                <a:ea typeface="Helvetica Neue"/>
                <a:cs typeface="Helvetica Neue"/>
              </a:defRPr>
            </a:pPr>
            <a:r>
              <a:rPr sz="1950" b="0">
                <a:solidFill>
                  <a:srgbClr val="52666E"/>
                </a:solidFill>
                <a:latin typeface="Helvetica Neue"/>
                <a:ea typeface="Helvetica Neue"/>
                <a:cs typeface="Helvetica Neue"/>
              </a:rPr>
              <a:t>Original classifiers and dummy baseline remain. Extra Trees adds one family.</a:t>
            </a:r>
          </a:p>
        </p:txBody>
      </p:sp>
    </p:spTree>
    <p:extLst>
      <p:ext uri="{BB962C8B-B14F-4D97-AF65-F5344CB8AC3E}">
        <p14:creationId xmlns:p14="http://schemas.microsoft.com/office/powerpoint/2010/main" val="2033119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E1058A-CB5A-46CE-B79B-B1E2497E2ED9}"/>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7"/>
                </a:solidFill>
                <a:latin typeface="Helvetica Neue"/>
                <a:ea typeface="Helvetica Neue"/>
                <a:cs typeface="Helvetica Neue"/>
              </a:defRPr>
            </a:pPr>
            <a:r>
              <a:rPr sz="3225" b="1">
                <a:solidFill>
                  <a:srgbClr val="172D37"/>
                </a:solidFill>
                <a:latin typeface="Helvetica Neue"/>
                <a:ea typeface="Helvetica Neue"/>
                <a:cs typeface="Helvetica Neue"/>
              </a:rPr>
              <a:t>Nested evaluation and the 75% target</a:t>
            </a:r>
          </a:p>
        </p:txBody>
      </p:sp>
      <p:sp>
        <p:nvSpPr>
          <p:cNvPr id="2" name="">
            <a:extLst xmlns:a="http://schemas.openxmlformats.org/drawingml/2006/main">
              <a:ext uri="{FF2B5EF4-FFF2-40B4-BE49-F238E27FC236}">
                <a16:creationId xmlns:a16="http://schemas.microsoft.com/office/drawing/2014/main" id="{37974DA7-0261-4601-A547-B29957222C32}"/>
              </a:ext>
            </a:extLst>
          </p:cNvPr>
          <p:cNvSpPr>
            <a:spLocks xmlns:a="http://schemas.openxmlformats.org/drawingml/2006/main" noGrp="1"/>
          </p:cNvSpPr>
          <p:nvPr/>
        </p:nvSpPr>
        <p:spPr>
          <a:xfrm xmlns:a="http://schemas.openxmlformats.org/drawingml/2006/main">
            <a:off x="11144250" y="6362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6</a:t>
            </a:r>
          </a:p>
        </p:txBody>
      </p:sp>
      <p:graphicFrame>
        <p:nvGraphicFramePr>
          <p:cNvPr id="8" name="Chart"/>
          <p:cNvGraphicFramePr/>
          <p:nvPr/>
        </p:nvGraphicFramePr>
        <p:xfrm>
          <a:off xmlns:a="http://schemas.openxmlformats.org/drawingml/2006/main" x="609600" y="1543050"/>
          <a:ext xmlns:a="http://schemas.openxmlformats.org/drawingml/2006/main" cx="10972800" cy="3552825"/>
        </p:xfrm>
        <a:graphic xmlns:a="http://schemas.openxmlformats.org/drawingml/2006/main">
          <a:graphicData uri="http://schemas.openxmlformats.org/drawingml/2006/chart">
            <c:chart xmlns:r="http://schemas.openxmlformats.org/officeDocument/2006/relationships" xmlns:c="http://schemas.openxmlformats.org/drawingml/2006/chart" r:id="R6878ff24c0ff40a4"/>
          </a:graphicData>
        </a:graphic>
      </p:graphicFrame>
      <p:sp>
        <p:nvSpPr>
          <p:cNvPr id="4" name="">
            <a:extLst xmlns:a="http://schemas.openxmlformats.org/drawingml/2006/main">
              <a:ext uri="{FF2B5EF4-FFF2-40B4-BE49-F238E27FC236}">
                <a16:creationId xmlns:a16="http://schemas.microsoft.com/office/drawing/2014/main" id="{6A354EA5-06F3-4789-8C20-A376E84EFEC0}"/>
              </a:ext>
            </a:extLst>
          </p:cNvPr>
          <p:cNvSpPr>
            <a:spLocks xmlns:a="http://schemas.openxmlformats.org/drawingml/2006/main" noGrp="1"/>
          </p:cNvSpPr>
          <p:nvPr/>
        </p:nvSpPr>
        <p:spPr>
          <a:xfrm xmlns:a="http://schemas.openxmlformats.org/drawingml/2006/main">
            <a:off x="609600" y="5362575"/>
            <a:ext cx="1081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7"/>
                </a:solidFill>
                <a:latin typeface="Helvetica Neue"/>
                <a:ea typeface="Helvetica Neue"/>
                <a:cs typeface="Helvetica Neue"/>
              </a:defRPr>
            </a:pPr>
            <a:r>
              <a:rPr sz="2250" b="1">
                <a:solidFill>
                  <a:srgbClr val="172D37"/>
                </a:solidFill>
                <a:latin typeface="Helvetica Neue"/>
                <a:ea typeface="Helvetica Neue"/>
                <a:cs typeface="Helvetica Neue"/>
              </a:rPr>
              <a:t>Balanced accuracy interval: 48.3% to 57.3%</a:t>
            </a:r>
          </a:p>
        </p:txBody>
      </p:sp>
      <p:sp>
        <p:nvSpPr>
          <p:cNvPr id="5" name="">
            <a:extLst xmlns:a="http://schemas.openxmlformats.org/drawingml/2006/main">
              <a:ext uri="{FF2B5EF4-FFF2-40B4-BE49-F238E27FC236}">
                <a16:creationId xmlns:a16="http://schemas.microsoft.com/office/drawing/2014/main" id="{C6440EA8-F06B-4C5B-B453-308385E5CF4D}"/>
              </a:ext>
            </a:extLst>
          </p:cNvPr>
          <p:cNvSpPr>
            <a:spLocks xmlns:a="http://schemas.openxmlformats.org/drawingml/2006/main" noGrp="1"/>
          </p:cNvSpPr>
          <p:nvPr/>
        </p:nvSpPr>
        <p:spPr>
          <a:xfrm xmlns:a="http://schemas.openxmlformats.org/drawingml/2006/main">
            <a:off x="609600" y="59340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66E"/>
                </a:solidFill>
                <a:latin typeface="Helvetica Neue"/>
                <a:ea typeface="Helvetica Neue"/>
                <a:cs typeface="Helvetica Neue"/>
              </a:defRPr>
            </a:pPr>
            <a:r>
              <a:rPr sz="1800" b="0">
                <a:solidFill>
                  <a:srgbClr val="52666E"/>
                </a:solidFill>
                <a:latin typeface="Helvetica Neue"/>
                <a:ea typeface="Helvetica Neue"/>
                <a:cs typeface="Helvetica Neue"/>
              </a:rPr>
              <a:t>All five metrics must exceed 75%. This evaluation does not meet that target.</a:t>
            </a:r>
          </a:p>
        </p:txBody>
      </p:sp>
    </p:spTree>
    <p:extLst>
      <p:ext uri="{BB962C8B-B14F-4D97-AF65-F5344CB8AC3E}">
        <p14:creationId xmlns:p14="http://schemas.microsoft.com/office/powerpoint/2010/main" val="13480560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08CFA8-1133-49C1-A89B-FAAF5D191484}"/>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7"/>
                </a:solidFill>
                <a:latin typeface="Helvetica Neue"/>
                <a:ea typeface="Helvetica Neue"/>
                <a:cs typeface="Helvetica Neue"/>
              </a:defRPr>
            </a:pPr>
            <a:r>
              <a:rPr sz="3225" b="1">
                <a:solidFill>
                  <a:srgbClr val="172D37"/>
                </a:solidFill>
                <a:latin typeface="Helvetica Neue"/>
                <a:ea typeface="Helvetica Neue"/>
                <a:cs typeface="Helvetica Neue"/>
              </a:rPr>
              <a:t>Matched historical comparison</a:t>
            </a:r>
          </a:p>
        </p:txBody>
      </p:sp>
      <p:sp>
        <p:nvSpPr>
          <p:cNvPr id="2" name="">
            <a:extLst xmlns:a="http://schemas.openxmlformats.org/drawingml/2006/main">
              <a:ext uri="{FF2B5EF4-FFF2-40B4-BE49-F238E27FC236}">
                <a16:creationId xmlns:a16="http://schemas.microsoft.com/office/drawing/2014/main" id="{66522532-965D-41ED-AB60-A57D8E65E600}"/>
              </a:ext>
            </a:extLst>
          </p:cNvPr>
          <p:cNvSpPr>
            <a:spLocks xmlns:a="http://schemas.openxmlformats.org/drawingml/2006/main" noGrp="1"/>
          </p:cNvSpPr>
          <p:nvPr/>
        </p:nvSpPr>
        <p:spPr>
          <a:xfrm xmlns:a="http://schemas.openxmlformats.org/drawingml/2006/main">
            <a:off x="11144250" y="6362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7</a:t>
            </a:r>
          </a:p>
        </p:txBody>
      </p:sp>
      <p:graphicFrame>
        <p:nvGraphicFramePr>
          <p:cNvPr id="8" name=""/>
          <p:cNvGraphicFramePr/>
          <p:nvPr/>
        </p:nvGraphicFramePr>
        <p:xfrm>
          <a:off xmlns:a="http://schemas.openxmlformats.org/drawingml/2006/main" x="609600" y="1476375"/>
          <a:ext xmlns:a="http://schemas.openxmlformats.org/drawingml/2006/main" cx="10972800" cy="3152775"/>
        </p:xfrm>
        <a:graphic xmlns:a="http://schemas.openxmlformats.org/drawingml/2006/main">
          <a:graphicData uri="http://schemas.openxmlformats.org/drawingml/2006/table">
            <a:tbl>
              <a:tblPr/>
              <a:tblGrid>
                <a:gridCol w="6191250"/>
                <a:gridCol w="2390775"/>
                <a:gridCol w="2390775"/>
              </a:tblGrid>
              <a:tr h="525463">
                <a:tc>
                  <a:txBody>
                    <a:bodyPr/>
                    <a:lstStyle/>
                    <a:p>
                      <a:r>
                        <a:rPr sz="1875" b="1">
                          <a:solidFill>
                            <a:srgbClr val="172D37"/>
                          </a:solidFill>
                          <a:latin typeface="Helvetica Neue"/>
                          <a:ea typeface="Helvetica Neue"/>
                          <a:cs typeface="Helvetica Neue"/>
                        </a:rPr>
                        <a:t>Metric</a:t>
                      </a:r>
                    </a:p>
                  </a:txBody>
                  <a:tcPr marL="114300" marR="95250" marT="76200" marB="76200">
                    <a:solidFill>
                      <a:srgbClr val="EFF5F5"/>
                    </a:solidFill>
                  </a:tcPr>
                </a:tc>
                <a:tc>
                  <a:txBody>
                    <a:bodyPr/>
                    <a:lstStyle/>
                    <a:p>
                      <a:r>
                        <a:rPr sz="1875" b="1">
                          <a:solidFill>
                            <a:srgbClr val="172D37"/>
                          </a:solidFill>
                          <a:latin typeface="Helvetica Neue"/>
                          <a:ea typeface="Helvetica Neue"/>
                          <a:cs typeface="Helvetica Neue"/>
                        </a:rPr>
                        <a:t>V1 original</a:t>
                      </a:r>
                    </a:p>
                  </a:txBody>
                  <a:tcPr marL="114300" marR="95250" marT="76200" marB="76200">
                    <a:solidFill>
                      <a:srgbClr val="EFF5F5"/>
                    </a:solidFill>
                  </a:tcPr>
                </a:tc>
                <a:tc>
                  <a:txBody>
                    <a:bodyPr/>
                    <a:lstStyle/>
                    <a:p>
                      <a:r>
                        <a:rPr sz="1875" b="1">
                          <a:solidFill>
                            <a:srgbClr val="172D37"/>
                          </a:solidFill>
                          <a:latin typeface="Helvetica Neue"/>
                          <a:ea typeface="Helvetica Neue"/>
                          <a:cs typeface="Helvetica Neue"/>
                        </a:rPr>
                        <a:t>V2 candidate</a:t>
                      </a:r>
                    </a:p>
                  </a:txBody>
                  <a:tcPr marL="114300" marR="95250" marT="76200" marB="76200">
                    <a:solidFill>
                      <a:srgbClr val="EFF5F5"/>
                    </a:solidFill>
                  </a:tcPr>
                </a:tc>
              </a:tr>
              <a:tr h="525463">
                <a:tc>
                  <a:txBody>
                    <a:bodyPr/>
                    <a:lstStyle/>
                    <a:p>
                      <a:r>
                        <a:rPr sz="1875">
                          <a:solidFill>
                            <a:srgbClr val="172D37"/>
                          </a:solidFill>
                          <a:latin typeface="Helvetica Neue"/>
                          <a:ea typeface="Helvetica Neue"/>
                          <a:cs typeface="Helvetica Neue"/>
                        </a:rPr>
                        <a:t>accuracy</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46.8%</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55.2%</a:t>
                      </a:r>
                    </a:p>
                  </a:txBody>
                  <a:tcPr marL="114300" marR="95250" marT="76200" marB="76200">
                    <a:solidFill>
                      <a:srgbClr val="FFFFFF"/>
                    </a:solidFill>
                  </a:tcPr>
                </a:tc>
              </a:tr>
              <a:tr h="525463">
                <a:tc>
                  <a:txBody>
                    <a:bodyPr/>
                    <a:lstStyle/>
                    <a:p>
                      <a:r>
                        <a:rPr sz="1875">
                          <a:solidFill>
                            <a:srgbClr val="172D37"/>
                          </a:solidFill>
                          <a:latin typeface="Helvetica Neue"/>
                          <a:ea typeface="Helvetica Neue"/>
                          <a:cs typeface="Helvetica Neue"/>
                        </a:rPr>
                        <a:t>balanced accuracy</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46.6%</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55.2%</a:t>
                      </a:r>
                    </a:p>
                  </a:txBody>
                  <a:tcPr marL="114300" marR="95250" marT="76200" marB="76200">
                    <a:solidFill>
                      <a:srgbClr val="FFFFFF"/>
                    </a:solidFill>
                  </a:tcPr>
                </a:tc>
              </a:tr>
              <a:tr h="525463">
                <a:tc>
                  <a:txBody>
                    <a:bodyPr/>
                    <a:lstStyle/>
                    <a:p>
                      <a:r>
                        <a:rPr sz="1875">
                          <a:solidFill>
                            <a:srgbClr val="172D37"/>
                          </a:solidFill>
                          <a:latin typeface="Helvetica Neue"/>
                          <a:ea typeface="Helvetica Neue"/>
                          <a:cs typeface="Helvetica Neue"/>
                        </a:rPr>
                        <a:t>precision</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45.2%</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54.8%</a:t>
                      </a:r>
                    </a:p>
                  </a:txBody>
                  <a:tcPr marL="114300" marR="95250" marT="76200" marB="76200">
                    <a:solidFill>
                      <a:srgbClr val="FFFFFF"/>
                    </a:solidFill>
                  </a:tcPr>
                </a:tc>
              </a:tr>
              <a:tr h="525463">
                <a:tc>
                  <a:txBody>
                    <a:bodyPr/>
                    <a:lstStyle/>
                    <a:p>
                      <a:r>
                        <a:rPr sz="1875">
                          <a:solidFill>
                            <a:srgbClr val="172D37"/>
                          </a:solidFill>
                          <a:latin typeface="Helvetica Neue"/>
                          <a:ea typeface="Helvetica Neue"/>
                          <a:cs typeface="Helvetica Neue"/>
                        </a:rPr>
                        <a:t>recall</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36.8%</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52.6%</a:t>
                      </a:r>
                    </a:p>
                  </a:txBody>
                  <a:tcPr marL="114300" marR="95250" marT="76200" marB="76200">
                    <a:solidFill>
                      <a:srgbClr val="FFFFFF"/>
                    </a:solidFill>
                  </a:tcPr>
                </a:tc>
              </a:tr>
              <a:tr h="525463">
                <a:tc>
                  <a:txBody>
                    <a:bodyPr/>
                    <a:lstStyle/>
                    <a:p>
                      <a:r>
                        <a:rPr sz="1875">
                          <a:solidFill>
                            <a:srgbClr val="172D37"/>
                          </a:solidFill>
                          <a:latin typeface="Helvetica Neue"/>
                          <a:ea typeface="Helvetica Neue"/>
                          <a:cs typeface="Helvetica Neue"/>
                        </a:rPr>
                        <a:t>f1</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40.6%</a:t>
                      </a:r>
                    </a:p>
                  </a:txBody>
                  <a:tcPr marL="114300" marR="95250" marT="76200" marB="76200">
                    <a:solidFill>
                      <a:srgbClr val="FFFFFF"/>
                    </a:solidFill>
                  </a:tcPr>
                </a:tc>
                <a:tc>
                  <a:txBody>
                    <a:bodyPr/>
                    <a:lstStyle/>
                    <a:p>
                      <a:r>
                        <a:rPr sz="1875">
                          <a:solidFill>
                            <a:srgbClr val="172D37"/>
                          </a:solidFill>
                          <a:latin typeface="Helvetica Neue"/>
                          <a:ea typeface="Helvetica Neue"/>
                          <a:cs typeface="Helvetica Neue"/>
                        </a:rPr>
                        <a:t>53.7%</a:t>
                      </a:r>
                    </a:p>
                  </a:txBody>
                  <a:tcPr marL="114300" marR="95250"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1E1CE0F-B490-4251-8FF0-6EFE0DED43CA}"/>
              </a:ext>
            </a:extLst>
          </p:cNvPr>
          <p:cNvSpPr>
            <a:spLocks xmlns:a="http://schemas.openxmlformats.org/drawingml/2006/main" noGrp="1"/>
          </p:cNvSpPr>
          <p:nvPr/>
        </p:nvSpPr>
        <p:spPr>
          <a:xfrm xmlns:a="http://schemas.openxmlformats.org/drawingml/2006/main">
            <a:off x="609600" y="5000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C80"/>
                </a:solidFill>
                <a:latin typeface="Helvetica Neue"/>
                <a:ea typeface="Helvetica Neue"/>
                <a:cs typeface="Helvetica Neue"/>
              </a:defRPr>
            </a:pPr>
            <a:r>
              <a:rPr sz="2250" b="1">
                <a:solidFill>
                  <a:srgbClr val="127C80"/>
                </a:solidFill>
                <a:latin typeface="Helvetica Neue"/>
                <a:ea typeface="Helvetica Neue"/>
                <a:cs typeface="Helvetica Neue"/>
              </a:rPr>
              <a:t>Balanced accuracy change: +8.5 percentage points</a:t>
            </a:r>
          </a:p>
        </p:txBody>
      </p:sp>
      <p:sp>
        <p:nvSpPr>
          <p:cNvPr id="5" name="">
            <a:extLst xmlns:a="http://schemas.openxmlformats.org/drawingml/2006/main">
              <a:ext uri="{FF2B5EF4-FFF2-40B4-BE49-F238E27FC236}">
                <a16:creationId xmlns:a16="http://schemas.microsoft.com/office/drawing/2014/main" id="{0D50A637-8316-4349-866F-EB6ECA3F4933}"/>
              </a:ext>
            </a:extLst>
          </p:cNvPr>
          <p:cNvSpPr>
            <a:spLocks xmlns:a="http://schemas.openxmlformats.org/drawingml/2006/main" noGrp="1"/>
          </p:cNvSpPr>
          <p:nvPr/>
        </p:nvSpPr>
        <p:spPr>
          <a:xfrm xmlns:a="http://schemas.openxmlformats.org/drawingml/2006/main">
            <a:off x="609600" y="56197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66E"/>
                </a:solidFill>
                <a:latin typeface="Helvetica Neue"/>
                <a:ea typeface="Helvetica Neue"/>
                <a:cs typeface="Helvetica Neue"/>
              </a:defRPr>
            </a:pPr>
            <a:r>
              <a:rPr sz="2025" b="0">
                <a:solidFill>
                  <a:srgbClr val="52666E"/>
                </a:solidFill>
                <a:latin typeface="Helvetica Neue"/>
                <a:ea typeface="Helvetica Neue"/>
                <a:cs typeface="Helvetica Neue"/>
              </a:rPr>
              <a:t>Paired interval: -1.6 to +16.9 points. It includes zero.</a:t>
            </a:r>
          </a:p>
        </p:txBody>
      </p:sp>
    </p:spTree>
    <p:extLst>
      <p:ext uri="{BB962C8B-B14F-4D97-AF65-F5344CB8AC3E}">
        <p14:creationId xmlns:p14="http://schemas.microsoft.com/office/powerpoint/2010/main" val="18596053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858B30-3041-4ADF-AA56-5FCDA081FCE4}"/>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7"/>
                </a:solidFill>
                <a:latin typeface="Helvetica Neue"/>
                <a:ea typeface="Helvetica Neue"/>
                <a:cs typeface="Helvetica Neue"/>
              </a:defRPr>
            </a:pPr>
            <a:r>
              <a:rPr sz="3225" b="1">
                <a:solidFill>
                  <a:srgbClr val="172D37"/>
                </a:solidFill>
                <a:latin typeface="Helvetica Neue"/>
                <a:ea typeface="Helvetica Neue"/>
                <a:cs typeface="Helvetica Neue"/>
              </a:rPr>
              <a:t>Training and validation gaps</a:t>
            </a:r>
          </a:p>
        </p:txBody>
      </p:sp>
      <p:sp>
        <p:nvSpPr>
          <p:cNvPr id="2" name="">
            <a:extLst xmlns:a="http://schemas.openxmlformats.org/drawingml/2006/main">
              <a:ext uri="{FF2B5EF4-FFF2-40B4-BE49-F238E27FC236}">
                <a16:creationId xmlns:a16="http://schemas.microsoft.com/office/drawing/2014/main" id="{215422E5-971D-4565-BD92-2B6018728D94}"/>
              </a:ext>
            </a:extLst>
          </p:cNvPr>
          <p:cNvSpPr>
            <a:spLocks xmlns:a="http://schemas.openxmlformats.org/drawingml/2006/main" noGrp="1"/>
          </p:cNvSpPr>
          <p:nvPr/>
        </p:nvSpPr>
        <p:spPr>
          <a:xfrm xmlns:a="http://schemas.openxmlformats.org/drawingml/2006/main">
            <a:off x="11144250" y="6362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8</a:t>
            </a:r>
          </a:p>
        </p:txBody>
      </p:sp>
      <p:graphicFrame>
        <p:nvGraphicFramePr>
          <p:cNvPr id="8" name="Chart"/>
          <p:cNvGraphicFramePr/>
          <p:nvPr/>
        </p:nvGraphicFramePr>
        <p:xfrm>
          <a:off xmlns:a="http://schemas.openxmlformats.org/drawingml/2006/main" x="609600" y="1524000"/>
          <a:ext xmlns:a="http://schemas.openxmlformats.org/drawingml/2006/main" cx="10972800" cy="3609975"/>
        </p:xfrm>
        <a:graphic xmlns:a="http://schemas.openxmlformats.org/drawingml/2006/main">
          <a:graphicData uri="http://schemas.openxmlformats.org/drawingml/2006/chart">
            <c:chart xmlns:r="http://schemas.openxmlformats.org/officeDocument/2006/relationships" xmlns:c="http://schemas.openxmlformats.org/drawingml/2006/chart" r:id="R2971c35431c9420b"/>
          </a:graphicData>
        </a:graphic>
      </p:graphicFrame>
      <p:sp>
        <p:nvSpPr>
          <p:cNvPr id="4" name="">
            <a:extLst xmlns:a="http://schemas.openxmlformats.org/drawingml/2006/main">
              <a:ext uri="{FF2B5EF4-FFF2-40B4-BE49-F238E27FC236}">
                <a16:creationId xmlns:a16="http://schemas.microsoft.com/office/drawing/2014/main" id="{345A3DBD-894A-4CDC-A8B9-BDB2AC54E683}"/>
              </a:ext>
            </a:extLst>
          </p:cNvPr>
          <p:cNvSpPr>
            <a:spLocks xmlns:a="http://schemas.openxmlformats.org/drawingml/2006/main" noGrp="1"/>
          </p:cNvSpPr>
          <p:nvPr/>
        </p:nvSpPr>
        <p:spPr>
          <a:xfrm xmlns:a="http://schemas.openxmlformats.org/drawingml/2006/main">
            <a:off x="609600" y="54578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27C80"/>
                </a:solidFill>
                <a:latin typeface="Helvetica Neue"/>
                <a:ea typeface="Helvetica Neue"/>
                <a:cs typeface="Helvetica Neue"/>
              </a:defRPr>
            </a:pPr>
            <a:r>
              <a:rPr sz="2475" b="1">
                <a:solidFill>
                  <a:srgbClr val="127C80"/>
                </a:solidFill>
                <a:latin typeface="Helvetica Neue"/>
                <a:ea typeface="Helvetica Neue"/>
                <a:cs typeface="Helvetica Neue"/>
              </a:rPr>
              <a:t>A training/validation gap remains</a:t>
            </a:r>
          </a:p>
        </p:txBody>
      </p:sp>
      <p:sp>
        <p:nvSpPr>
          <p:cNvPr id="5" name="">
            <a:extLst xmlns:a="http://schemas.openxmlformats.org/drawingml/2006/main">
              <a:ext uri="{FF2B5EF4-FFF2-40B4-BE49-F238E27FC236}">
                <a16:creationId xmlns:a16="http://schemas.microsoft.com/office/drawing/2014/main" id="{7AF7FE7A-7797-422E-8F5A-982E92BA93D3}"/>
              </a:ext>
            </a:extLst>
          </p:cNvPr>
          <p:cNvSpPr>
            <a:spLocks xmlns:a="http://schemas.openxmlformats.org/drawingml/2006/main" noGrp="1"/>
          </p:cNvSpPr>
          <p:nvPr/>
        </p:nvSpPr>
        <p:spPr>
          <a:xfrm xmlns:a="http://schemas.openxmlformats.org/drawingml/2006/main">
            <a:off x="609600" y="60007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66E"/>
                </a:solidFill>
                <a:latin typeface="Helvetica Neue"/>
                <a:ea typeface="Helvetica Neue"/>
                <a:cs typeface="Helvetica Neue"/>
              </a:defRPr>
            </a:pPr>
            <a:r>
              <a:rPr sz="1800" b="0">
                <a:solidFill>
                  <a:srgbClr val="52666E"/>
                </a:solidFill>
                <a:latin typeface="Helvetica Neue"/>
                <a:ea typeface="Helvetica Neue"/>
                <a:cs typeface="Helvetica Neue"/>
              </a:rPr>
              <a:t>These diagnostics do not establish a single cause or guarantee a future score.</a:t>
            </a:r>
          </a:p>
        </p:txBody>
      </p:sp>
    </p:spTree>
    <p:extLst>
      <p:ext uri="{BB962C8B-B14F-4D97-AF65-F5344CB8AC3E}">
        <p14:creationId xmlns:p14="http://schemas.microsoft.com/office/powerpoint/2010/main" val="18842822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E594FA-5B97-4732-AECE-228E5BC1F5F8}"/>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7"/>
                </a:solidFill>
                <a:latin typeface="Helvetica Neue"/>
                <a:ea typeface="Helvetica Neue"/>
                <a:cs typeface="Helvetica Neue"/>
              </a:defRPr>
            </a:pPr>
            <a:r>
              <a:rPr sz="3225" b="1">
                <a:solidFill>
                  <a:srgbClr val="172D37"/>
                </a:solidFill>
                <a:latin typeface="Helvetica Neue"/>
                <a:ea typeface="Helvetica Neue"/>
                <a:cs typeface="Helvetica Neue"/>
              </a:rPr>
              <a:t>Working demo and blocked audio experiments</a:t>
            </a:r>
          </a:p>
        </p:txBody>
      </p:sp>
      <p:sp>
        <p:nvSpPr>
          <p:cNvPr id="2" name="">
            <a:extLst xmlns:a="http://schemas.openxmlformats.org/drawingml/2006/main">
              <a:ext uri="{FF2B5EF4-FFF2-40B4-BE49-F238E27FC236}">
                <a16:creationId xmlns:a16="http://schemas.microsoft.com/office/drawing/2014/main" id="{33890C06-38E1-484C-B25D-AF51D0635D98}"/>
              </a:ext>
            </a:extLst>
          </p:cNvPr>
          <p:cNvSpPr>
            <a:spLocks xmlns:a="http://schemas.openxmlformats.org/drawingml/2006/main" noGrp="1"/>
          </p:cNvSpPr>
          <p:nvPr/>
        </p:nvSpPr>
        <p:spPr>
          <a:xfrm xmlns:a="http://schemas.openxmlformats.org/drawingml/2006/main">
            <a:off x="11144250" y="6362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9</a:t>
            </a:r>
          </a:p>
        </p:txBody>
      </p:sp>
      <p:sp>
        <p:nvSpPr>
          <p:cNvPr id="3" name="">
            <a:extLst xmlns:a="http://schemas.openxmlformats.org/drawingml/2006/main">
              <a:ext uri="{FF2B5EF4-FFF2-40B4-BE49-F238E27FC236}">
                <a16:creationId xmlns:a16="http://schemas.microsoft.com/office/drawing/2014/main" id="{08142AAC-9B67-4AD0-859D-B727AD95CD79}"/>
              </a:ext>
            </a:extLst>
          </p:cNvPr>
          <p:cNvSpPr>
            <a:spLocks xmlns:a="http://schemas.openxmlformats.org/drawingml/2006/main" noGrp="1"/>
          </p:cNvSpPr>
          <p:nvPr/>
        </p:nvSpPr>
        <p:spPr>
          <a:xfrm xmlns:a="http://schemas.openxmlformats.org/drawingml/2006/main">
            <a:off x="609600" y="1571625"/>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7C80"/>
                </a:solidFill>
                <a:latin typeface="Helvetica Neue"/>
                <a:ea typeface="Helvetica Neue"/>
                <a:cs typeface="Helvetica Neue"/>
              </a:defRPr>
            </a:pPr>
            <a:r>
              <a:rPr sz="2550" b="1">
                <a:solidFill>
                  <a:srgbClr val="127C80"/>
                </a:solidFill>
                <a:latin typeface="Helvetica Neue"/>
                <a:ea typeface="Helvetica Neue"/>
                <a:cs typeface="Helvetica Neue"/>
              </a:rPr>
              <a:t>Demo</a:t>
            </a:r>
          </a:p>
        </p:txBody>
      </p:sp>
      <p:sp>
        <p:nvSpPr>
          <p:cNvPr id="4" name="">
            <a:extLst xmlns:a="http://schemas.openxmlformats.org/drawingml/2006/main">
              <a:ext uri="{FF2B5EF4-FFF2-40B4-BE49-F238E27FC236}">
                <a16:creationId xmlns:a16="http://schemas.microsoft.com/office/drawing/2014/main" id="{C27C20A4-FF7D-4A70-8813-12680EEED4D6}"/>
              </a:ext>
            </a:extLst>
          </p:cNvPr>
          <p:cNvSpPr>
            <a:spLocks xmlns:a="http://schemas.openxmlformats.org/drawingml/2006/main" noGrp="1"/>
          </p:cNvSpPr>
          <p:nvPr/>
        </p:nvSpPr>
        <p:spPr>
          <a:xfrm xmlns:a="http://schemas.openxmlformats.org/drawingml/2006/main">
            <a:off x="609600" y="2238375"/>
            <a:ext cx="10763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Choose a historical song and compare its prediction.</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Inspect the run identity, errors and evaluation status.</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The original model remains the active default.</a:t>
            </a:r>
          </a:p>
        </p:txBody>
      </p:sp>
      <p:sp>
        <p:nvSpPr>
          <p:cNvPr id="5" name="">
            <a:extLst xmlns:a="http://schemas.openxmlformats.org/drawingml/2006/main">
              <a:ext uri="{FF2B5EF4-FFF2-40B4-BE49-F238E27FC236}">
                <a16:creationId xmlns:a16="http://schemas.microsoft.com/office/drawing/2014/main" id="{395D7BF3-3DBC-4F5F-8793-6003648EB29E}"/>
              </a:ext>
            </a:extLst>
          </p:cNvPr>
          <p:cNvSpPr>
            <a:spLocks xmlns:a="http://schemas.openxmlformats.org/drawingml/2006/main" noGrp="1"/>
          </p:cNvSpPr>
          <p:nvPr/>
        </p:nvSpPr>
        <p:spPr>
          <a:xfrm xmlns:a="http://schemas.openxmlformats.org/drawingml/2006/main">
            <a:off x="609600" y="40957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2D37"/>
                </a:solidFill>
                <a:latin typeface="Helvetica Neue"/>
                <a:ea typeface="Helvetica Neue"/>
                <a:cs typeface="Helvetica Neue"/>
              </a:defRPr>
            </a:pPr>
            <a:r>
              <a:rPr sz="2550" b="1">
                <a:solidFill>
                  <a:srgbClr val="172D37"/>
                </a:solidFill>
                <a:latin typeface="Helvetica Neue"/>
                <a:ea typeface="Helvetica Neue"/>
                <a:cs typeface="Helvetica Neue"/>
              </a:rPr>
              <a:t>Inputs needed for the next audio study</a:t>
            </a:r>
          </a:p>
        </p:txBody>
      </p:sp>
      <p:sp>
        <p:nvSpPr>
          <p:cNvPr id="6" name="">
            <a:extLst xmlns:a="http://schemas.openxmlformats.org/drawingml/2006/main">
              <a:ext uri="{FF2B5EF4-FFF2-40B4-BE49-F238E27FC236}">
                <a16:creationId xmlns:a16="http://schemas.microsoft.com/office/drawing/2014/main" id="{7B0D0277-178D-4372-9DF1-9E9AD564E7C8}"/>
              </a:ext>
            </a:extLst>
          </p:cNvPr>
          <p:cNvSpPr>
            <a:spLocks xmlns:a="http://schemas.openxmlformats.org/drawingml/2006/main" noGrp="1"/>
          </p:cNvSpPr>
          <p:nvPr/>
        </p:nvSpPr>
        <p:spPr>
          <a:xfrm xmlns:a="http://schemas.openxmlformats.org/drawingml/2006/main">
            <a:off x="609600" y="4762500"/>
            <a:ext cx="1076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Permitted recordings and verified recording/label identities</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One extraction policy for both training audio and uploads</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A genuinely fresh evaluation collection</a:t>
            </a:r>
          </a:p>
        </p:txBody>
      </p:sp>
    </p:spTree>
    <p:extLst>
      <p:ext uri="{BB962C8B-B14F-4D97-AF65-F5344CB8AC3E}">
        <p14:creationId xmlns:p14="http://schemas.microsoft.com/office/powerpoint/2010/main" val="15758027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06B2CC-566C-4E52-B292-485212F49256}"/>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7"/>
                </a:solidFill>
                <a:latin typeface="Helvetica Neue"/>
                <a:ea typeface="Helvetica Neue"/>
                <a:cs typeface="Helvetica Neue"/>
              </a:defRPr>
            </a:pPr>
            <a:r>
              <a:rPr sz="3225" b="1">
                <a:solidFill>
                  <a:srgbClr val="172D37"/>
                </a:solidFill>
                <a:latin typeface="Helvetica Neue"/>
                <a:ea typeface="Helvetica Neue"/>
                <a:cs typeface="Helvetica Neue"/>
              </a:rPr>
              <a:t>Conclusion and project evidence</a:t>
            </a:r>
          </a:p>
        </p:txBody>
      </p:sp>
      <p:sp>
        <p:nvSpPr>
          <p:cNvPr id="2" name="">
            <a:extLst xmlns:a="http://schemas.openxmlformats.org/drawingml/2006/main">
              <a:ext uri="{FF2B5EF4-FFF2-40B4-BE49-F238E27FC236}">
                <a16:creationId xmlns:a16="http://schemas.microsoft.com/office/drawing/2014/main" id="{BCED645D-70C9-484C-B87F-7C3B00C91F80}"/>
              </a:ext>
            </a:extLst>
          </p:cNvPr>
          <p:cNvSpPr>
            <a:spLocks xmlns:a="http://schemas.openxmlformats.org/drawingml/2006/main" noGrp="1"/>
          </p:cNvSpPr>
          <p:nvPr/>
        </p:nvSpPr>
        <p:spPr>
          <a:xfrm xmlns:a="http://schemas.openxmlformats.org/drawingml/2006/main">
            <a:off x="11144250" y="6362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02194EC9-E7C2-4F50-BE4B-61921ED3DB1A}"/>
              </a:ext>
            </a:extLst>
          </p:cNvPr>
          <p:cNvSpPr>
            <a:spLocks xmlns:a="http://schemas.openxmlformats.org/drawingml/2006/main" noGrp="1"/>
          </p:cNvSpPr>
          <p:nvPr/>
        </p:nvSpPr>
        <p:spPr>
          <a:xfrm xmlns:a="http://schemas.openxmlformats.org/drawingml/2006/main">
            <a:off x="609600" y="1571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7C80"/>
                </a:solidFill>
                <a:latin typeface="Helvetica Neue"/>
                <a:ea typeface="Helvetica Neue"/>
                <a:cs typeface="Helvetica Neue"/>
              </a:defRPr>
            </a:pPr>
            <a:r>
              <a:rPr sz="3000" b="1">
                <a:solidFill>
                  <a:srgbClr val="127C80"/>
                </a:solidFill>
                <a:latin typeface="Helvetica Neue"/>
                <a:ea typeface="Helvetica Neue"/>
                <a:cs typeface="Helvetica Neue"/>
              </a:rPr>
              <a:t>The measured results remain below the target</a:t>
            </a:r>
          </a:p>
        </p:txBody>
      </p:sp>
      <p:sp>
        <p:nvSpPr>
          <p:cNvPr id="4" name="">
            <a:extLst xmlns:a="http://schemas.openxmlformats.org/drawingml/2006/main">
              <a:ext uri="{FF2B5EF4-FFF2-40B4-BE49-F238E27FC236}">
                <a16:creationId xmlns:a16="http://schemas.microsoft.com/office/drawing/2014/main" id="{C42629BF-7D58-436A-8E6A-24A2E749FC9F}"/>
              </a:ext>
            </a:extLst>
          </p:cNvPr>
          <p:cNvSpPr>
            <a:spLocks xmlns:a="http://schemas.openxmlformats.org/drawingml/2006/main" noGrp="1"/>
          </p:cNvSpPr>
          <p:nvPr/>
        </p:nvSpPr>
        <p:spPr>
          <a:xfrm xmlns:a="http://schemas.openxmlformats.org/drawingml/2006/main">
            <a:off x="609600" y="2952750"/>
            <a:ext cx="10858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D37"/>
                </a:solidFill>
                <a:latin typeface="Helvetica Neue"/>
                <a:ea typeface="Helvetica Neue"/>
                <a:cs typeface="Helvetica Neue"/>
              </a:defRPr>
            </a:pPr>
            <a:r>
              <a:rPr sz="2325" b="0">
                <a:solidFill>
                  <a:srgbClr val="172D37"/>
                </a:solidFill>
                <a:latin typeface="Helvetica Neue"/>
                <a:ea typeface="Helvetica Neue"/>
                <a:cs typeface="Helvetica Neue"/>
              </a:rPr>
              <a:t>Nested balanced accuracy: 52.9%</a:t>
            </a:r>
          </a:p>
          <a:p xmlns:a="http://schemas.openxmlformats.org/drawingml/2006/main">
            <a:pPr>
              <a:defRPr sz="2325" b="0">
                <a:solidFill>
                  <a:srgbClr val="172D37"/>
                </a:solidFill>
                <a:latin typeface="Helvetica Neue"/>
                <a:ea typeface="Helvetica Neue"/>
                <a:cs typeface="Helvetica Neue"/>
              </a:defRPr>
            </a:pPr>
            <a:r>
              <a:rPr sz="2325" b="0">
                <a:solidFill>
                  <a:srgbClr val="172D37"/>
                </a:solidFill>
                <a:latin typeface="Helvetica Neue"/>
                <a:ea typeface="Helvetica Neue"/>
                <a:cs typeface="Helvetica Neue"/>
              </a:rPr>
              <a:t>Historical balanced accuracy: 55.2%</a:t>
            </a:r>
          </a:p>
          <a:p xmlns:a="http://schemas.openxmlformats.org/drawingml/2006/main">
            <a:pPr>
              <a:defRPr sz="2325" b="0">
                <a:solidFill>
                  <a:srgbClr val="172D37"/>
                </a:solidFill>
                <a:latin typeface="Helvetica Neue"/>
                <a:ea typeface="Helvetica Neue"/>
                <a:cs typeface="Helvetica Neue"/>
              </a:defRPr>
            </a:pPr>
            <a:r>
              <a:rPr sz="2325" b="0">
                <a:solidFill>
                  <a:srgbClr val="172D37"/>
                </a:solidFill>
                <a:latin typeface="Helvetica Neue"/>
                <a:ea typeface="Helvetica Neue"/>
                <a:cs typeface="Helvetica Neue"/>
              </a:rPr>
              <a:t>Fresh confirmation: unavailable</a:t>
            </a:r>
          </a:p>
        </p:txBody>
      </p:sp>
      <p:sp>
        <p:nvSpPr>
          <p:cNvPr id="5" name="">
            <a:extLst xmlns:a="http://schemas.openxmlformats.org/drawingml/2006/main">
              <a:ext uri="{FF2B5EF4-FFF2-40B4-BE49-F238E27FC236}">
                <a16:creationId xmlns:a16="http://schemas.microsoft.com/office/drawing/2014/main" id="{4D994E7D-4675-42C8-9A01-6ADAAFA05EA2}"/>
              </a:ext>
            </a:extLst>
          </p:cNvPr>
          <p:cNvSpPr>
            <a:spLocks xmlns:a="http://schemas.openxmlformats.org/drawingml/2006/main" noGrp="1"/>
          </p:cNvSpPr>
          <p:nvPr/>
        </p:nvSpPr>
        <p:spPr>
          <a:xfrm xmlns:a="http://schemas.openxmlformats.org/drawingml/2006/main">
            <a:off x="609600" y="47625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D37"/>
                </a:solidFill>
                <a:latin typeface="Helvetica Neue"/>
                <a:ea typeface="Helvetica Neue"/>
                <a:cs typeface="Helvetica Neue"/>
              </a:defRPr>
            </a:pPr>
            <a:r>
              <a:rPr sz="2400" b="1">
                <a:solidFill>
                  <a:srgbClr val="172D37"/>
                </a:solidFill>
                <a:latin typeface="Helvetica Neue"/>
                <a:ea typeface="Helvetica Neue"/>
                <a:cs typeface="Helvetica Neue"/>
              </a:rPr>
              <a:t>Evidence included with the project</a:t>
            </a:r>
          </a:p>
        </p:txBody>
      </p:sp>
      <p:sp>
        <p:nvSpPr>
          <p:cNvPr id="6" name="">
            <a:extLst xmlns:a="http://schemas.openxmlformats.org/drawingml/2006/main">
              <a:ext uri="{FF2B5EF4-FFF2-40B4-BE49-F238E27FC236}">
                <a16:creationId xmlns:a16="http://schemas.microsoft.com/office/drawing/2014/main" id="{421A11D3-85B7-4161-B803-5007892E6B52}"/>
              </a:ext>
            </a:extLst>
          </p:cNvPr>
          <p:cNvSpPr>
            <a:spLocks xmlns:a="http://schemas.openxmlformats.org/drawingml/2006/main" noGrp="1"/>
          </p:cNvSpPr>
          <p:nvPr/>
        </p:nvSpPr>
        <p:spPr>
          <a:xfrm xmlns:a="http://schemas.openxmlformats.org/drawingml/2006/main">
            <a:off x="609600" y="54292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D37"/>
                </a:solidFill>
                <a:latin typeface="Helvetica Neue"/>
                <a:ea typeface="Helvetica Neue"/>
                <a:cs typeface="Helvetica Neue"/>
              </a:defRPr>
            </a:pPr>
            <a:r>
              <a:rPr sz="2025" b="0">
                <a:solidFill>
                  <a:srgbClr val="172D37"/>
                </a:solidFill>
                <a:latin typeface="Helvetica Neue"/>
                <a:ea typeface="Helvetica Neue"/>
                <a:cs typeface="Helvetica Neue"/>
              </a:rPr>
              <a:t>Baseline snapshot, source audit, folds and every trial</a:t>
            </a:r>
          </a:p>
          <a:p xmlns:a="http://schemas.openxmlformats.org/drawingml/2006/main">
            <a:pPr>
              <a:defRPr sz="2025" b="0">
                <a:solidFill>
                  <a:srgbClr val="172D37"/>
                </a:solidFill>
                <a:latin typeface="Helvetica Neue"/>
                <a:ea typeface="Helvetica Neue"/>
                <a:cs typeface="Helvetica Neue"/>
              </a:defRPr>
            </a:pPr>
            <a:r>
              <a:rPr sz="2025" b="0">
                <a:solidFill>
                  <a:srgbClr val="172D37"/>
                </a:solidFill>
                <a:latin typeface="Helvetica Neue"/>
                <a:ea typeface="Helvetica Neue"/>
                <a:cs typeface="Helvetica Neue"/>
              </a:rPr>
              <a:t>Predictions, uncertainty, executable notebook and study guide</a:t>
            </a:r>
          </a:p>
        </p:txBody>
      </p:sp>
    </p:spTree>
    <p:extLst>
      <p:ext uri="{BB962C8B-B14F-4D97-AF65-F5344CB8AC3E}">
        <p14:creationId xmlns:p14="http://schemas.microsoft.com/office/powerpoint/2010/main" val="11942960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2026-10-02T05:12:12.0820000Z</dcterms:created>
  <dcterms:modified xsi:type="dcterms:W3CDTF">2026-10-02T05:12:12.0820000Z</dcterms:modified>
</coreProperties>
</file>